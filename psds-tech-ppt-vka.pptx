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Garet" charset="1" panose="00000000000000000000"/>
      <p:regular r:id="rId32"/>
    </p:embeddedFont>
    <p:embeddedFont>
      <p:font typeface="Canva Sans Bold" charset="1" panose="020B0803030501040103"/>
      <p:regular r:id="rId33"/>
    </p:embeddedFont>
    <p:embeddedFont>
      <p:font typeface="Alexandria Bold" charset="1" panose="00000000000000000000"/>
      <p:regular r:id="rId34"/>
    </p:embeddedFont>
    <p:embeddedFont>
      <p:font typeface="Canva Sans" charset="1" panose="020B0503030501040103"/>
      <p:regular r:id="rId35"/>
    </p:embeddedFont>
    <p:embeddedFont>
      <p:font typeface="Alexandria" charset="1" panose="00000000000000000000"/>
      <p:regular r:id="rId36"/>
    </p:embeddedFont>
    <p:embeddedFont>
      <p:font typeface="Garet Bold" charset="1" panose="000000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embeddings/oleObject1.bin" Type="http://schemas.openxmlformats.org/officeDocument/2006/relationships/oleObject"/><Relationship Id="rId4" Target="../media/image4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3890343" y="5516388"/>
            <a:ext cx="4840370" cy="6758253"/>
          </a:xfrm>
          <a:custGeom>
            <a:avLst/>
            <a:gdLst/>
            <a:ahLst/>
            <a:cxnLst/>
            <a:rect r="r" b="b" t="t" l="l"/>
            <a:pathLst>
              <a:path h="6758253" w="4840370">
                <a:moveTo>
                  <a:pt x="4840371" y="6758253"/>
                </a:moveTo>
                <a:lnTo>
                  <a:pt x="0" y="6758253"/>
                </a:lnTo>
                <a:lnTo>
                  <a:pt x="0" y="0"/>
                </a:lnTo>
                <a:lnTo>
                  <a:pt x="4840371" y="0"/>
                </a:lnTo>
                <a:lnTo>
                  <a:pt x="4840371" y="675825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212327">
            <a:off x="-1633813" y="4706943"/>
            <a:ext cx="7684967" cy="7684967"/>
          </a:xfrm>
          <a:custGeom>
            <a:avLst/>
            <a:gdLst/>
            <a:ahLst/>
            <a:cxnLst/>
            <a:rect r="r" b="b" t="t" l="l"/>
            <a:pathLst>
              <a:path h="7684967" w="7684967">
                <a:moveTo>
                  <a:pt x="7684968" y="0"/>
                </a:moveTo>
                <a:lnTo>
                  <a:pt x="0" y="0"/>
                </a:lnTo>
                <a:lnTo>
                  <a:pt x="0" y="7684968"/>
                </a:lnTo>
                <a:lnTo>
                  <a:pt x="7684968" y="7684968"/>
                </a:lnTo>
                <a:lnTo>
                  <a:pt x="768496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2020970" y="4706943"/>
            <a:ext cx="7684967" cy="7684967"/>
          </a:xfrm>
          <a:custGeom>
            <a:avLst/>
            <a:gdLst/>
            <a:ahLst/>
            <a:cxnLst/>
            <a:rect r="r" b="b" t="t" l="l"/>
            <a:pathLst>
              <a:path h="7684967" w="7684967">
                <a:moveTo>
                  <a:pt x="7684968" y="0"/>
                </a:moveTo>
                <a:lnTo>
                  <a:pt x="0" y="0"/>
                </a:lnTo>
                <a:lnTo>
                  <a:pt x="0" y="7684968"/>
                </a:lnTo>
                <a:lnTo>
                  <a:pt x="7684968" y="7684968"/>
                </a:lnTo>
                <a:lnTo>
                  <a:pt x="768496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176744">
            <a:off x="12281842" y="-3234705"/>
            <a:ext cx="6992792" cy="6992792"/>
          </a:xfrm>
          <a:custGeom>
            <a:avLst/>
            <a:gdLst/>
            <a:ahLst/>
            <a:cxnLst/>
            <a:rect r="r" b="b" t="t" l="l"/>
            <a:pathLst>
              <a:path h="6992792" w="6992792">
                <a:moveTo>
                  <a:pt x="0" y="6992792"/>
                </a:moveTo>
                <a:lnTo>
                  <a:pt x="6992792" y="6992792"/>
                </a:lnTo>
                <a:lnTo>
                  <a:pt x="6992792" y="0"/>
                </a:lnTo>
                <a:lnTo>
                  <a:pt x="0" y="0"/>
                </a:lnTo>
                <a:lnTo>
                  <a:pt x="0" y="69927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12348517" y="-3496396"/>
            <a:ext cx="6992792" cy="6992792"/>
          </a:xfrm>
          <a:custGeom>
            <a:avLst/>
            <a:gdLst/>
            <a:ahLst/>
            <a:cxnLst/>
            <a:rect r="r" b="b" t="t" l="l"/>
            <a:pathLst>
              <a:path h="6992792" w="6992792">
                <a:moveTo>
                  <a:pt x="0" y="6992792"/>
                </a:moveTo>
                <a:lnTo>
                  <a:pt x="6992792" y="6992792"/>
                </a:lnTo>
                <a:lnTo>
                  <a:pt x="6992792" y="0"/>
                </a:lnTo>
                <a:lnTo>
                  <a:pt x="0" y="0"/>
                </a:lnTo>
                <a:lnTo>
                  <a:pt x="0" y="699279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4504614" y="5057775"/>
            <a:ext cx="9278773" cy="2869794"/>
          </a:xfrm>
          <a:prstGeom prst="rect">
            <a:avLst/>
          </a:prstGeom>
        </p:spPr>
        <p:txBody>
          <a:bodyPr anchor="t" rtlCol="false" tIns="0" lIns="0" bIns="0" rIns="0">
            <a:spAutoFit/>
          </a:bodyPr>
          <a:lstStyle/>
          <a:p>
            <a:pPr algn="ctr">
              <a:lnSpc>
                <a:spcPts val="5712"/>
              </a:lnSpc>
            </a:pPr>
            <a:r>
              <a:rPr lang="en-US" sz="4080">
                <a:solidFill>
                  <a:srgbClr val="545454"/>
                </a:solidFill>
                <a:latin typeface="Garet"/>
                <a:ea typeface="Garet"/>
                <a:cs typeface="Garet"/>
                <a:sym typeface="Garet"/>
              </a:rPr>
              <a:t>By Group -09</a:t>
            </a:r>
          </a:p>
          <a:p>
            <a:pPr algn="ctr">
              <a:lnSpc>
                <a:spcPts val="5712"/>
              </a:lnSpc>
            </a:pPr>
            <a:r>
              <a:rPr lang="en-US" sz="4080">
                <a:solidFill>
                  <a:srgbClr val="545454"/>
                </a:solidFill>
                <a:latin typeface="Garet"/>
                <a:ea typeface="Garet"/>
                <a:cs typeface="Garet"/>
                <a:sym typeface="Garet"/>
              </a:rPr>
              <a:t> Vidhi Shiyani</a:t>
            </a:r>
          </a:p>
          <a:p>
            <a:pPr algn="ctr">
              <a:lnSpc>
                <a:spcPts val="5712"/>
              </a:lnSpc>
            </a:pPr>
            <a:r>
              <a:rPr lang="en-US" sz="4080">
                <a:solidFill>
                  <a:srgbClr val="545454"/>
                </a:solidFill>
                <a:latin typeface="Garet"/>
                <a:ea typeface="Garet"/>
                <a:cs typeface="Garet"/>
                <a:sym typeface="Garet"/>
              </a:rPr>
              <a:t>Komal Dodiya </a:t>
            </a:r>
          </a:p>
          <a:p>
            <a:pPr algn="ctr">
              <a:lnSpc>
                <a:spcPts val="5712"/>
              </a:lnSpc>
              <a:spcBef>
                <a:spcPct val="0"/>
              </a:spcBef>
            </a:pPr>
            <a:r>
              <a:rPr lang="en-US" sz="4080">
                <a:solidFill>
                  <a:srgbClr val="545454"/>
                </a:solidFill>
                <a:latin typeface="Garet"/>
                <a:ea typeface="Garet"/>
                <a:cs typeface="Garet"/>
                <a:sym typeface="Garet"/>
              </a:rPr>
              <a:t> Aniket Patel  </a:t>
            </a:r>
          </a:p>
        </p:txBody>
      </p:sp>
      <p:sp>
        <p:nvSpPr>
          <p:cNvPr name="TextBox 9" id="9"/>
          <p:cNvSpPr txBox="true"/>
          <p:nvPr/>
        </p:nvSpPr>
        <p:spPr>
          <a:xfrm rot="0">
            <a:off x="840824" y="857250"/>
            <a:ext cx="16181021" cy="3195319"/>
          </a:xfrm>
          <a:prstGeom prst="rect">
            <a:avLst/>
          </a:prstGeom>
        </p:spPr>
        <p:txBody>
          <a:bodyPr anchor="t" rtlCol="false" tIns="0" lIns="0" bIns="0" rIns="0">
            <a:spAutoFit/>
          </a:bodyPr>
          <a:lstStyle/>
          <a:p>
            <a:pPr algn="ctr">
              <a:lnSpc>
                <a:spcPts val="12880"/>
              </a:lnSpc>
            </a:pPr>
            <a:r>
              <a:rPr lang="en-US" sz="9200" b="true">
                <a:solidFill>
                  <a:srgbClr val="3F3D3E"/>
                </a:solidFill>
                <a:latin typeface="Canva Sans Bold"/>
                <a:ea typeface="Canva Sans Bold"/>
                <a:cs typeface="Canva Sans Bold"/>
                <a:sym typeface="Canva Sans Bold"/>
              </a:rPr>
              <a:t>Data-Driven Hotspot Identification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482918" y="5595434"/>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5" id="5"/>
          <p:cNvSpPr/>
          <p:nvPr/>
        </p:nvSpPr>
        <p:spPr>
          <a:xfrm flipH="false" flipV="false" rot="0">
            <a:off x="1028700" y="327272"/>
            <a:ext cx="14653507" cy="2617368"/>
          </a:xfrm>
          <a:custGeom>
            <a:avLst/>
            <a:gdLst/>
            <a:ahLst/>
            <a:cxnLst/>
            <a:rect r="r" b="b" t="t" l="l"/>
            <a:pathLst>
              <a:path h="2617368" w="14653507">
                <a:moveTo>
                  <a:pt x="0" y="0"/>
                </a:moveTo>
                <a:lnTo>
                  <a:pt x="14653507" y="0"/>
                </a:lnTo>
                <a:lnTo>
                  <a:pt x="14653507" y="2617369"/>
                </a:lnTo>
                <a:lnTo>
                  <a:pt x="0" y="2617369"/>
                </a:lnTo>
                <a:lnTo>
                  <a:pt x="0" y="0"/>
                </a:lnTo>
                <a:close/>
              </a:path>
            </a:pathLst>
          </a:custGeom>
          <a:blipFill>
            <a:blip r:embed="rId6"/>
            <a:stretch>
              <a:fillRect l="0" t="-4602" r="0" b="-4602"/>
            </a:stretch>
          </a:blipFill>
        </p:spPr>
      </p:sp>
      <p:sp>
        <p:nvSpPr>
          <p:cNvPr name="TextBox 6" id="6"/>
          <p:cNvSpPr txBox="true"/>
          <p:nvPr/>
        </p:nvSpPr>
        <p:spPr>
          <a:xfrm rot="0">
            <a:off x="1937267" y="5502281"/>
            <a:ext cx="12906876" cy="1945976"/>
          </a:xfrm>
          <a:prstGeom prst="rect">
            <a:avLst/>
          </a:prstGeom>
        </p:spPr>
        <p:txBody>
          <a:bodyPr anchor="t" rtlCol="false" tIns="0" lIns="0" bIns="0" rIns="0">
            <a:spAutoFit/>
          </a:bodyPr>
          <a:lstStyle/>
          <a:p>
            <a:pPr algn="l">
              <a:lnSpc>
                <a:spcPts val="5181"/>
              </a:lnSpc>
            </a:pPr>
            <a:r>
              <a:rPr lang="en-US" sz="3700">
                <a:solidFill>
                  <a:srgbClr val="545454"/>
                </a:solidFill>
                <a:latin typeface="Garet"/>
                <a:ea typeface="Garet"/>
                <a:cs typeface="Garet"/>
                <a:sym typeface="Garet"/>
              </a:rPr>
              <a:t>https://opendata.cityofnewyork.us/</a:t>
            </a:r>
          </a:p>
          <a:p>
            <a:pPr algn="l">
              <a:lnSpc>
                <a:spcPts val="5181"/>
              </a:lnSpc>
              <a:spcBef>
                <a:spcPct val="0"/>
              </a:spcBef>
            </a:pPr>
            <a:r>
              <a:rPr lang="en-US" sz="3700">
                <a:solidFill>
                  <a:srgbClr val="545454"/>
                </a:solidFill>
                <a:latin typeface="Garet"/>
                <a:ea typeface="Garet"/>
                <a:cs typeface="Garet"/>
                <a:sym typeface="Garet"/>
              </a:rPr>
              <a:t>New York State Division of Criminal Justice Services (DCJS)</a:t>
            </a:r>
          </a:p>
        </p:txBody>
      </p:sp>
      <p:sp>
        <p:nvSpPr>
          <p:cNvPr name="TextBox 7" id="7"/>
          <p:cNvSpPr txBox="true"/>
          <p:nvPr/>
        </p:nvSpPr>
        <p:spPr>
          <a:xfrm rot="0">
            <a:off x="4541415" y="3484353"/>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DATA SOURCE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02976" y="606261"/>
            <a:ext cx="12430761"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PROBLEM STATEMENT</a:t>
            </a:r>
          </a:p>
        </p:txBody>
      </p:sp>
      <p:sp>
        <p:nvSpPr>
          <p:cNvPr name="TextBox 4" id="4"/>
          <p:cNvSpPr txBox="true"/>
          <p:nvPr/>
        </p:nvSpPr>
        <p:spPr>
          <a:xfrm rot="0">
            <a:off x="3294039" y="1673704"/>
            <a:ext cx="11400286" cy="3469573"/>
          </a:xfrm>
          <a:prstGeom prst="rect">
            <a:avLst/>
          </a:prstGeom>
        </p:spPr>
        <p:txBody>
          <a:bodyPr anchor="t" rtlCol="false" tIns="0" lIns="0" bIns="0" rIns="0">
            <a:spAutoFit/>
          </a:bodyPr>
          <a:lstStyle/>
          <a:p>
            <a:pPr algn="ctr">
              <a:lnSpc>
                <a:spcPts val="4576"/>
              </a:lnSpc>
            </a:pPr>
          </a:p>
          <a:p>
            <a:pPr algn="ctr">
              <a:lnSpc>
                <a:spcPts val="4576"/>
              </a:lnSpc>
              <a:spcBef>
                <a:spcPct val="0"/>
              </a:spcBef>
            </a:pPr>
            <a:r>
              <a:rPr lang="en-US" sz="3268">
                <a:solidFill>
                  <a:srgbClr val="545454"/>
                </a:solidFill>
                <a:latin typeface="Garet"/>
                <a:ea typeface="Garet"/>
                <a:cs typeface="Garet"/>
                <a:sym typeface="Garet"/>
              </a:rPr>
              <a:t>To classify the hotspots in the New York State county where the number of criminals aged 18 or older is significantly higher, so that the government can implement measures to reduce the conversion rate of juvenile offenders.</a:t>
            </a:r>
          </a:p>
        </p:txBody>
      </p:sp>
      <p:sp>
        <p:nvSpPr>
          <p:cNvPr name="Freeform 5" id="5"/>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7" id="7"/>
          <p:cNvSpPr txBox="true"/>
          <p:nvPr/>
        </p:nvSpPr>
        <p:spPr>
          <a:xfrm rot="0">
            <a:off x="1028700" y="5408236"/>
            <a:ext cx="16059071" cy="2307597"/>
          </a:xfrm>
          <a:prstGeom prst="rect">
            <a:avLst/>
          </a:prstGeom>
        </p:spPr>
        <p:txBody>
          <a:bodyPr anchor="t" rtlCol="false" tIns="0" lIns="0" bIns="0" rIns="0">
            <a:spAutoFit/>
          </a:bodyPr>
          <a:lstStyle/>
          <a:p>
            <a:pPr algn="ctr">
              <a:lnSpc>
                <a:spcPts val="4576"/>
              </a:lnSpc>
              <a:spcBef>
                <a:spcPct val="0"/>
              </a:spcBef>
            </a:pPr>
            <a:r>
              <a:rPr lang="en-US" sz="3268">
                <a:solidFill>
                  <a:srgbClr val="545454"/>
                </a:solidFill>
                <a:latin typeface="Garet"/>
                <a:ea typeface="Garet"/>
                <a:cs typeface="Garet"/>
                <a:sym typeface="Garet"/>
              </a:rPr>
              <a:t>We </a:t>
            </a:r>
            <a:r>
              <a:rPr lang="en-US" sz="3268">
                <a:solidFill>
                  <a:srgbClr val="545454"/>
                </a:solidFill>
                <a:latin typeface="Garet"/>
                <a:ea typeface="Garet"/>
                <a:cs typeface="Garet"/>
                <a:sym typeface="Garet"/>
              </a:rPr>
              <a:t>often hear about rising crime rates, but one of the biggest concerns is the transition of juvenile offenders into adult criminals. If we can identify where adult crimes are concentrated, we can better understand the environment influencing youth and take preventive action.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0">
            <a:off x="-561902" y="5338005"/>
            <a:ext cx="19109242" cy="5143500"/>
          </a:xfrm>
          <a:custGeom>
            <a:avLst/>
            <a:gdLst/>
            <a:ahLst/>
            <a:cxnLst/>
            <a:rect r="r" b="b" t="t" l="l"/>
            <a:pathLst>
              <a:path h="5143500" w="19109242">
                <a:moveTo>
                  <a:pt x="0" y="0"/>
                </a:moveTo>
                <a:lnTo>
                  <a:pt x="19109242" y="0"/>
                </a:lnTo>
                <a:lnTo>
                  <a:pt x="19109242" y="5143500"/>
                </a:lnTo>
                <a:lnTo>
                  <a:pt x="0" y="5143500"/>
                </a:lnTo>
                <a:lnTo>
                  <a:pt x="0" y="0"/>
                </a:lnTo>
                <a:close/>
              </a:path>
            </a:pathLst>
          </a:custGeom>
          <a:blipFill>
            <a:blip r:embed="rId2"/>
            <a:stretch>
              <a:fillRect l="0" t="-21207" r="0" b="-24732"/>
            </a:stretch>
          </a:blipFill>
        </p:spPr>
      </p:sp>
      <p:sp>
        <p:nvSpPr>
          <p:cNvPr name="TextBox 3" id="3"/>
          <p:cNvSpPr txBox="true"/>
          <p:nvPr/>
        </p:nvSpPr>
        <p:spPr>
          <a:xfrm rot="0">
            <a:off x="426981" y="2471642"/>
            <a:ext cx="16054573" cy="2671858"/>
          </a:xfrm>
          <a:prstGeom prst="rect">
            <a:avLst/>
          </a:prstGeom>
        </p:spPr>
        <p:txBody>
          <a:bodyPr anchor="t" rtlCol="false" tIns="0" lIns="0" bIns="0" rIns="0">
            <a:spAutoFit/>
          </a:bodyPr>
          <a:lstStyle/>
          <a:p>
            <a:pPr algn="l">
              <a:lnSpc>
                <a:spcPts val="4240"/>
              </a:lnSpc>
            </a:pPr>
            <a:r>
              <a:rPr lang="en-US" sz="3028">
                <a:solidFill>
                  <a:srgbClr val="545454"/>
                </a:solidFill>
                <a:latin typeface="Garet"/>
                <a:ea typeface="Garet"/>
                <a:cs typeface="Garet"/>
                <a:sym typeface="Garet"/>
              </a:rPr>
              <a:t>1) Juvenile crime can turn into adult crime  if early intervention  is not applied.</a:t>
            </a:r>
          </a:p>
          <a:p>
            <a:pPr algn="l">
              <a:lnSpc>
                <a:spcPts val="4240"/>
              </a:lnSpc>
            </a:pPr>
            <a:r>
              <a:rPr lang="en-US" sz="3028">
                <a:solidFill>
                  <a:srgbClr val="545454"/>
                </a:solidFill>
                <a:latin typeface="Garet"/>
                <a:ea typeface="Garet"/>
                <a:cs typeface="Garet"/>
                <a:sym typeface="Garet"/>
              </a:rPr>
              <a:t>2) Identifying High risk counties allows the government  to focus resources.</a:t>
            </a:r>
          </a:p>
          <a:p>
            <a:pPr algn="l">
              <a:lnSpc>
                <a:spcPts val="4240"/>
              </a:lnSpc>
            </a:pPr>
            <a:r>
              <a:rPr lang="en-US" sz="3028">
                <a:solidFill>
                  <a:srgbClr val="545454"/>
                </a:solidFill>
                <a:latin typeface="Garet"/>
                <a:ea typeface="Garet"/>
                <a:cs typeface="Garet"/>
                <a:sym typeface="Garet"/>
              </a:rPr>
              <a:t>3) Helps in designing Youth Programs, community support and policy strategies.</a:t>
            </a:r>
          </a:p>
          <a:p>
            <a:pPr algn="l">
              <a:lnSpc>
                <a:spcPts val="4240"/>
              </a:lnSpc>
              <a:spcBef>
                <a:spcPct val="0"/>
              </a:spcBef>
            </a:pPr>
            <a:r>
              <a:rPr lang="en-US" sz="3028">
                <a:solidFill>
                  <a:srgbClr val="545454"/>
                </a:solidFill>
                <a:latin typeface="Garet"/>
                <a:ea typeface="Garet"/>
                <a:cs typeface="Garet"/>
                <a:sym typeface="Garet"/>
              </a:rPr>
              <a:t>4) Data Driven Decision making makes crime inventions smarter and  more effective.</a:t>
            </a:r>
          </a:p>
        </p:txBody>
      </p:sp>
      <p:sp>
        <p:nvSpPr>
          <p:cNvPr name="TextBox 4" id="4"/>
          <p:cNvSpPr txBox="true"/>
          <p:nvPr/>
        </p:nvSpPr>
        <p:spPr>
          <a:xfrm rot="0">
            <a:off x="300533" y="542601"/>
            <a:ext cx="16181021" cy="1394415"/>
          </a:xfrm>
          <a:prstGeom prst="rect">
            <a:avLst/>
          </a:prstGeom>
        </p:spPr>
        <p:txBody>
          <a:bodyPr anchor="t" rtlCol="false" tIns="0" lIns="0" bIns="0" rIns="0">
            <a:spAutoFit/>
          </a:bodyPr>
          <a:lstStyle/>
          <a:p>
            <a:pPr algn="ctr">
              <a:lnSpc>
                <a:spcPts val="11340"/>
              </a:lnSpc>
            </a:pPr>
            <a:r>
              <a:rPr lang="en-US" sz="8100" b="true">
                <a:solidFill>
                  <a:srgbClr val="3F3D3E"/>
                </a:solidFill>
                <a:latin typeface="Canva Sans Bold"/>
                <a:ea typeface="Canva Sans Bold"/>
                <a:cs typeface="Canva Sans Bold"/>
                <a:sym typeface="Canva Sans Bold"/>
              </a:rPr>
              <a:t>Why Dataset matters the most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859629" y="708994"/>
            <a:ext cx="12198286"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ABOUT THE DATASET </a:t>
            </a:r>
          </a:p>
        </p:txBody>
      </p:sp>
      <p:sp>
        <p:nvSpPr>
          <p:cNvPr name="TextBox 4" id="4"/>
          <p:cNvSpPr txBox="true"/>
          <p:nvPr/>
        </p:nvSpPr>
        <p:spPr>
          <a:xfrm rot="0">
            <a:off x="1868920" y="2503727"/>
            <a:ext cx="13791468" cy="5447949"/>
          </a:xfrm>
          <a:prstGeom prst="rect">
            <a:avLst/>
          </a:prstGeom>
        </p:spPr>
        <p:txBody>
          <a:bodyPr anchor="t" rtlCol="false" tIns="0" lIns="0" bIns="0" rIns="0">
            <a:spAutoFit/>
          </a:bodyPr>
          <a:lstStyle/>
          <a:p>
            <a:pPr algn="l">
              <a:lnSpc>
                <a:spcPts val="4785"/>
              </a:lnSpc>
            </a:pPr>
            <a:r>
              <a:rPr lang="en-US" sz="3418">
                <a:solidFill>
                  <a:srgbClr val="545454"/>
                </a:solidFill>
                <a:latin typeface="Garet"/>
                <a:ea typeface="Garet"/>
                <a:cs typeface="Garet"/>
                <a:sym typeface="Garet"/>
              </a:rPr>
              <a:t>Adult Arrests (18 and Older) by County – Beginning 1970</a:t>
            </a:r>
          </a:p>
          <a:p>
            <a:pPr algn="l">
              <a:lnSpc>
                <a:spcPts val="4785"/>
              </a:lnSpc>
            </a:pPr>
          </a:p>
          <a:p>
            <a:pPr algn="l" marL="737985" indent="-368993" lvl="1">
              <a:lnSpc>
                <a:spcPts val="4785"/>
              </a:lnSpc>
              <a:buFont typeface="Arial"/>
              <a:buChar char="•"/>
            </a:pPr>
            <a:r>
              <a:rPr lang="en-US" sz="3418">
                <a:solidFill>
                  <a:srgbClr val="545454"/>
                </a:solidFill>
                <a:latin typeface="Garet"/>
                <a:ea typeface="Garet"/>
                <a:cs typeface="Garet"/>
                <a:sym typeface="Garet"/>
              </a:rPr>
              <a:t>Total Records: 3,410</a:t>
            </a:r>
          </a:p>
          <a:p>
            <a:pPr algn="l" marL="737985" indent="-368993" lvl="1">
              <a:lnSpc>
                <a:spcPts val="4785"/>
              </a:lnSpc>
              <a:buFont typeface="Arial"/>
              <a:buChar char="•"/>
            </a:pPr>
            <a:r>
              <a:rPr lang="en-US" sz="3418">
                <a:solidFill>
                  <a:srgbClr val="545454"/>
                </a:solidFill>
                <a:latin typeface="Garet"/>
                <a:ea typeface="Garet"/>
                <a:cs typeface="Garet"/>
                <a:sym typeface="Garet"/>
              </a:rPr>
              <a:t>Time Period Covered: 1970 – 2024 (55 years of data)</a:t>
            </a:r>
          </a:p>
          <a:p>
            <a:pPr algn="l" marL="737985" indent="-368993" lvl="1">
              <a:lnSpc>
                <a:spcPts val="4785"/>
              </a:lnSpc>
              <a:buFont typeface="Arial"/>
              <a:buChar char="•"/>
            </a:pPr>
            <a:r>
              <a:rPr lang="en-US" sz="3418">
                <a:solidFill>
                  <a:srgbClr val="545454"/>
                </a:solidFill>
                <a:latin typeface="Garet"/>
                <a:ea typeface="Garet"/>
                <a:cs typeface="Garet"/>
                <a:sym typeface="Garet"/>
              </a:rPr>
              <a:t>Geographic Coverage: 62 counties across New York State</a:t>
            </a:r>
          </a:p>
          <a:p>
            <a:pPr algn="l" marL="737985" indent="-368993" lvl="1">
              <a:lnSpc>
                <a:spcPts val="4785"/>
              </a:lnSpc>
              <a:buFont typeface="Arial"/>
              <a:buChar char="•"/>
            </a:pPr>
            <a:r>
              <a:rPr lang="en-US" sz="3418">
                <a:solidFill>
                  <a:srgbClr val="545454"/>
                </a:solidFill>
                <a:latin typeface="Garet"/>
                <a:ea typeface="Garet"/>
                <a:cs typeface="Garet"/>
                <a:sym typeface="Garet"/>
              </a:rPr>
              <a:t>Population Group: Adults aged 18 years and older</a:t>
            </a:r>
          </a:p>
          <a:p>
            <a:pPr algn="l" marL="737985" indent="-368993" lvl="1">
              <a:lnSpc>
                <a:spcPts val="4785"/>
              </a:lnSpc>
              <a:buFont typeface="Arial"/>
              <a:buChar char="•"/>
            </a:pPr>
            <a:r>
              <a:rPr lang="en-US" sz="3418">
                <a:solidFill>
                  <a:srgbClr val="545454"/>
                </a:solidFill>
                <a:latin typeface="Garet"/>
                <a:ea typeface="Garet"/>
                <a:cs typeface="Garet"/>
                <a:sym typeface="Garet"/>
              </a:rPr>
              <a:t>Observation Unit: County-Year combination (e.g., Albany–1970)</a:t>
            </a:r>
          </a:p>
          <a:p>
            <a:pPr algn="l">
              <a:lnSpc>
                <a:spcPts val="4785"/>
              </a:lnSpc>
              <a:spcBef>
                <a:spcPct val="0"/>
              </a:spcBef>
            </a:pPr>
          </a:p>
        </p:txBody>
      </p:sp>
      <p:sp>
        <p:nvSpPr>
          <p:cNvPr name="Freeform 5" id="5"/>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5" id="5"/>
          <p:cNvSpPr/>
          <p:nvPr/>
        </p:nvSpPr>
        <p:spPr>
          <a:xfrm flipH="false" flipV="false" rot="0">
            <a:off x="277004" y="7191639"/>
            <a:ext cx="2300153" cy="1496216"/>
          </a:xfrm>
          <a:custGeom>
            <a:avLst/>
            <a:gdLst/>
            <a:ahLst/>
            <a:cxnLst/>
            <a:rect r="r" b="b" t="t" l="l"/>
            <a:pathLst>
              <a:path h="1496216" w="2300153">
                <a:moveTo>
                  <a:pt x="0" y="0"/>
                </a:moveTo>
                <a:lnTo>
                  <a:pt x="2300153" y="0"/>
                </a:lnTo>
                <a:lnTo>
                  <a:pt x="2300153" y="1496216"/>
                </a:lnTo>
                <a:lnTo>
                  <a:pt x="0" y="1496216"/>
                </a:lnTo>
                <a:lnTo>
                  <a:pt x="0" y="0"/>
                </a:lnTo>
                <a:close/>
              </a:path>
            </a:pathLst>
          </a:custGeom>
          <a:blipFill>
            <a:blip r:embed="rId6"/>
            <a:stretch>
              <a:fillRect l="0" t="0" r="0" b="0"/>
            </a:stretch>
          </a:blipFill>
        </p:spPr>
      </p:sp>
      <p:sp>
        <p:nvSpPr>
          <p:cNvPr name="Freeform 6" id="6"/>
          <p:cNvSpPr/>
          <p:nvPr/>
        </p:nvSpPr>
        <p:spPr>
          <a:xfrm flipH="false" flipV="false" rot="0">
            <a:off x="1427080" y="2984557"/>
            <a:ext cx="15076547" cy="3787982"/>
          </a:xfrm>
          <a:custGeom>
            <a:avLst/>
            <a:gdLst/>
            <a:ahLst/>
            <a:cxnLst/>
            <a:rect r="r" b="b" t="t" l="l"/>
            <a:pathLst>
              <a:path h="3787982" w="15076547">
                <a:moveTo>
                  <a:pt x="0" y="0"/>
                </a:moveTo>
                <a:lnTo>
                  <a:pt x="15076547" y="0"/>
                </a:lnTo>
                <a:lnTo>
                  <a:pt x="15076547" y="3787982"/>
                </a:lnTo>
                <a:lnTo>
                  <a:pt x="0" y="3787982"/>
                </a:lnTo>
                <a:lnTo>
                  <a:pt x="0" y="0"/>
                </a:lnTo>
                <a:close/>
              </a:path>
            </a:pathLst>
          </a:custGeom>
          <a:blipFill>
            <a:blip r:embed="rId7"/>
            <a:stretch>
              <a:fillRect l="0" t="0" r="0" b="0"/>
            </a:stretch>
          </a:blipFill>
        </p:spPr>
      </p:sp>
      <p:sp>
        <p:nvSpPr>
          <p:cNvPr name="TextBox 7" id="7"/>
          <p:cNvSpPr txBox="true"/>
          <p:nvPr/>
        </p:nvSpPr>
        <p:spPr>
          <a:xfrm rot="0">
            <a:off x="2806553" y="-73508"/>
            <a:ext cx="12546998"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EXPLORING THE DATA</a:t>
            </a:r>
          </a:p>
        </p:txBody>
      </p:sp>
      <p:sp>
        <p:nvSpPr>
          <p:cNvPr name="TextBox 8" id="8"/>
          <p:cNvSpPr txBox="true"/>
          <p:nvPr/>
        </p:nvSpPr>
        <p:spPr>
          <a:xfrm rot="0">
            <a:off x="277004" y="1261834"/>
            <a:ext cx="15764823" cy="1553366"/>
          </a:xfrm>
          <a:prstGeom prst="rect">
            <a:avLst/>
          </a:prstGeom>
        </p:spPr>
        <p:txBody>
          <a:bodyPr anchor="t" rtlCol="false" tIns="0" lIns="0" bIns="0" rIns="0">
            <a:spAutoFit/>
          </a:bodyPr>
          <a:lstStyle/>
          <a:p>
            <a:pPr algn="l">
              <a:lnSpc>
                <a:spcPts val="4156"/>
              </a:lnSpc>
            </a:pPr>
            <a:r>
              <a:rPr lang="en-US" sz="2968">
                <a:solidFill>
                  <a:srgbClr val="545454"/>
                </a:solidFill>
                <a:latin typeface="Garet"/>
                <a:ea typeface="Garet"/>
                <a:cs typeface="Garet"/>
                <a:sym typeface="Garet"/>
              </a:rPr>
              <a:t>It shows sample values for Albany County from 1970–1974, helping to understand how arrest counts are distributed across different categories (felonies and misdemeanors).</a:t>
            </a:r>
          </a:p>
        </p:txBody>
      </p:sp>
      <p:sp>
        <p:nvSpPr>
          <p:cNvPr name="TextBox 9" id="9"/>
          <p:cNvSpPr txBox="true"/>
          <p:nvPr/>
        </p:nvSpPr>
        <p:spPr>
          <a:xfrm rot="0">
            <a:off x="2806553" y="7134489"/>
            <a:ext cx="14154303" cy="1553366"/>
          </a:xfrm>
          <a:prstGeom prst="rect">
            <a:avLst/>
          </a:prstGeom>
        </p:spPr>
        <p:txBody>
          <a:bodyPr anchor="t" rtlCol="false" tIns="0" lIns="0" bIns="0" rIns="0">
            <a:spAutoFit/>
          </a:bodyPr>
          <a:lstStyle/>
          <a:p>
            <a:pPr algn="l" marL="0" indent="0" lvl="0">
              <a:lnSpc>
                <a:spcPts val="4156"/>
              </a:lnSpc>
              <a:spcBef>
                <a:spcPct val="0"/>
              </a:spcBef>
            </a:pPr>
            <a:r>
              <a:rPr lang="en-US" sz="2968" strike="noStrike" u="none">
                <a:solidFill>
                  <a:srgbClr val="545454"/>
                </a:solidFill>
                <a:latin typeface="Garet"/>
                <a:ea typeface="Garet"/>
                <a:cs typeface="Garet"/>
                <a:sym typeface="Garet"/>
              </a:rPr>
              <a:t>The dataset contains 3,410 rows and 13 columns.</a:t>
            </a:r>
          </a:p>
          <a:p>
            <a:pPr algn="l" marL="0" indent="0" lvl="0">
              <a:lnSpc>
                <a:spcPts val="4156"/>
              </a:lnSpc>
              <a:spcBef>
                <a:spcPct val="0"/>
              </a:spcBef>
            </a:pPr>
            <a:r>
              <a:rPr lang="en-US" sz="2968" strike="noStrike" u="none">
                <a:solidFill>
                  <a:srgbClr val="545454"/>
                </a:solidFill>
                <a:latin typeface="Garet"/>
                <a:ea typeface="Garet"/>
                <a:cs typeface="Garet"/>
                <a:sym typeface="Garet"/>
              </a:rPr>
              <a:t> Each row represents arrest data for a specific county and year, </a:t>
            </a:r>
          </a:p>
          <a:p>
            <a:pPr algn="l" marL="0" indent="0" lvl="0">
              <a:lnSpc>
                <a:spcPts val="4156"/>
              </a:lnSpc>
              <a:spcBef>
                <a:spcPct val="0"/>
              </a:spcBef>
            </a:pPr>
            <a:r>
              <a:rPr lang="en-US" sz="2968" strike="noStrike" u="none">
                <a:solidFill>
                  <a:srgbClr val="545454"/>
                </a:solidFill>
                <a:latin typeface="Garet"/>
                <a:ea typeface="Garet"/>
                <a:cs typeface="Garet"/>
                <a:sym typeface="Garet"/>
              </a:rPr>
              <a:t>while the columns represent different offense categories and totals.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5" id="5"/>
          <p:cNvSpPr/>
          <p:nvPr/>
        </p:nvSpPr>
        <p:spPr>
          <a:xfrm flipH="false" flipV="false" rot="0">
            <a:off x="1281223" y="1635957"/>
            <a:ext cx="8929074" cy="7983880"/>
          </a:xfrm>
          <a:custGeom>
            <a:avLst/>
            <a:gdLst/>
            <a:ahLst/>
            <a:cxnLst/>
            <a:rect r="r" b="b" t="t" l="l"/>
            <a:pathLst>
              <a:path h="7983880" w="8929074">
                <a:moveTo>
                  <a:pt x="0" y="0"/>
                </a:moveTo>
                <a:lnTo>
                  <a:pt x="8929075" y="0"/>
                </a:lnTo>
                <a:lnTo>
                  <a:pt x="8929075" y="7983879"/>
                </a:lnTo>
                <a:lnTo>
                  <a:pt x="0" y="7983879"/>
                </a:lnTo>
                <a:lnTo>
                  <a:pt x="0" y="0"/>
                </a:lnTo>
                <a:close/>
              </a:path>
            </a:pathLst>
          </a:custGeom>
          <a:blipFill>
            <a:blip r:embed="rId6"/>
            <a:stretch>
              <a:fillRect l="0" t="0" r="0" b="0"/>
            </a:stretch>
          </a:blipFill>
        </p:spPr>
      </p:sp>
      <p:sp>
        <p:nvSpPr>
          <p:cNvPr name="TextBox 6" id="6"/>
          <p:cNvSpPr txBox="true"/>
          <p:nvPr/>
        </p:nvSpPr>
        <p:spPr>
          <a:xfrm rot="0">
            <a:off x="10599008" y="1578807"/>
            <a:ext cx="6886822" cy="5631589"/>
          </a:xfrm>
          <a:prstGeom prst="rect">
            <a:avLst/>
          </a:prstGeom>
        </p:spPr>
        <p:txBody>
          <a:bodyPr anchor="t" rtlCol="false" tIns="0" lIns="0" bIns="0" rIns="0">
            <a:spAutoFit/>
          </a:bodyPr>
          <a:lstStyle/>
          <a:p>
            <a:pPr algn="l">
              <a:lnSpc>
                <a:spcPts val="4480"/>
              </a:lnSpc>
            </a:pPr>
            <a:r>
              <a:rPr lang="en-US" sz="3200">
                <a:solidFill>
                  <a:srgbClr val="545454"/>
                </a:solidFill>
                <a:latin typeface="Garet"/>
                <a:ea typeface="Garet"/>
                <a:cs typeface="Garet"/>
                <a:sym typeface="Garet"/>
              </a:rPr>
              <a:t>The summary shows the data types, non-null counts, and memory usage.</a:t>
            </a:r>
          </a:p>
          <a:p>
            <a:pPr algn="l">
              <a:lnSpc>
                <a:spcPts val="4480"/>
              </a:lnSpc>
            </a:pPr>
            <a:r>
              <a:rPr lang="en-US" sz="3200">
                <a:solidFill>
                  <a:srgbClr val="545454"/>
                </a:solidFill>
                <a:latin typeface="Garet"/>
                <a:ea typeface="Garet"/>
                <a:cs typeface="Garet"/>
                <a:sym typeface="Garet"/>
              </a:rPr>
              <a:t>It reveals that there are no missing values, but most columns are stored as objects (strings) instead of numeric types—indicating the need for data cleaning before analysis.</a:t>
            </a:r>
          </a:p>
          <a:p>
            <a:pPr algn="l">
              <a:lnSpc>
                <a:spcPts val="4759"/>
              </a:lnSpc>
            </a:pPr>
          </a:p>
        </p:txBody>
      </p:sp>
      <p:sp>
        <p:nvSpPr>
          <p:cNvPr name="TextBox 7" id="7"/>
          <p:cNvSpPr txBox="true"/>
          <p:nvPr/>
        </p:nvSpPr>
        <p:spPr>
          <a:xfrm rot="0">
            <a:off x="2806553" y="-73508"/>
            <a:ext cx="12546998"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EXPLORING THE DATA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0">
            <a:off x="10400860" y="1404756"/>
            <a:ext cx="6059121" cy="8307205"/>
          </a:xfrm>
          <a:custGeom>
            <a:avLst/>
            <a:gdLst/>
            <a:ahLst/>
            <a:cxnLst/>
            <a:rect r="r" b="b" t="t" l="l"/>
            <a:pathLst>
              <a:path h="8307205" w="6059121">
                <a:moveTo>
                  <a:pt x="0" y="0"/>
                </a:moveTo>
                <a:lnTo>
                  <a:pt x="6059121" y="0"/>
                </a:lnTo>
                <a:lnTo>
                  <a:pt x="6059121" y="8307205"/>
                </a:lnTo>
                <a:lnTo>
                  <a:pt x="0" y="8307205"/>
                </a:lnTo>
                <a:lnTo>
                  <a:pt x="0" y="0"/>
                </a:lnTo>
                <a:close/>
              </a:path>
            </a:pathLst>
          </a:custGeom>
          <a:blipFill>
            <a:blip r:embed="rId2"/>
            <a:stretch>
              <a:fillRect l="0" t="0" r="0" b="0"/>
            </a:stretch>
          </a:blipFill>
        </p:spPr>
      </p:sp>
      <p:sp>
        <p:nvSpPr>
          <p:cNvPr name="TextBox 3" id="3"/>
          <p:cNvSpPr txBox="true"/>
          <p:nvPr/>
        </p:nvSpPr>
        <p:spPr>
          <a:xfrm rot="0">
            <a:off x="614694" y="1338081"/>
            <a:ext cx="8529306" cy="7182108"/>
          </a:xfrm>
          <a:prstGeom prst="rect">
            <a:avLst/>
          </a:prstGeom>
        </p:spPr>
        <p:txBody>
          <a:bodyPr anchor="t" rtlCol="false" tIns="0" lIns="0" bIns="0" rIns="0">
            <a:spAutoFit/>
          </a:bodyPr>
          <a:lstStyle/>
          <a:p>
            <a:pPr algn="l">
              <a:lnSpc>
                <a:spcPts val="4759"/>
              </a:lnSpc>
            </a:pPr>
            <a:r>
              <a:rPr lang="en-US" sz="3399">
                <a:solidFill>
                  <a:srgbClr val="545454"/>
                </a:solidFill>
                <a:latin typeface="Canva Sans"/>
                <a:ea typeface="Canva Sans"/>
                <a:cs typeface="Canva Sans"/>
                <a:sym typeface="Canva Sans"/>
              </a:rPr>
              <a:t>This table gives descriptive statistics of dataset. Total records of 3410, The average number of DWI felony cases is around 67, but the maximum goes up to 613, showing a very high variation across counties.</a:t>
            </a:r>
          </a:p>
          <a:p>
            <a:pPr algn="l">
              <a:lnSpc>
                <a:spcPts val="4759"/>
              </a:lnSpc>
            </a:pPr>
            <a:r>
              <a:rPr lang="en-US" sz="3399">
                <a:solidFill>
                  <a:srgbClr val="545454"/>
                </a:solidFill>
                <a:latin typeface="Canva Sans"/>
                <a:ea typeface="Canva Sans"/>
                <a:cs typeface="Canva Sans"/>
                <a:sym typeface="Canva Sans"/>
              </a:rPr>
              <a:t>This tells us that some counties are extremely high crime zones compared to others, which is why hotspot classification is necessary.</a:t>
            </a:r>
          </a:p>
          <a:p>
            <a:pPr algn="l">
              <a:lnSpc>
                <a:spcPts val="4759"/>
              </a:lnSpc>
            </a:pPr>
          </a:p>
          <a:p>
            <a:pPr algn="l">
              <a:lnSpc>
                <a:spcPts val="4759"/>
              </a:lnSpc>
            </a:pPr>
          </a:p>
        </p:txBody>
      </p:sp>
      <p:sp>
        <p:nvSpPr>
          <p:cNvPr name="TextBox 4" id="4"/>
          <p:cNvSpPr txBox="true"/>
          <p:nvPr/>
        </p:nvSpPr>
        <p:spPr>
          <a:xfrm rot="0">
            <a:off x="753448" y="-152400"/>
            <a:ext cx="12546998"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EXPLORING THE DATA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792" y="3997804"/>
            <a:ext cx="18288000" cy="1145696"/>
          </a:xfrm>
          <a:prstGeom prst="rect">
            <a:avLst/>
          </a:prstGeom>
        </p:spPr>
        <p:txBody>
          <a:bodyPr anchor="t" rtlCol="false" tIns="0" lIns="0" bIns="0" rIns="0">
            <a:spAutoFit/>
          </a:bodyPr>
          <a:lstStyle/>
          <a:p>
            <a:pPr algn="ctr">
              <a:lnSpc>
                <a:spcPts val="4576"/>
              </a:lnSpc>
            </a:pPr>
            <a:r>
              <a:rPr lang="en-US" sz="3268">
                <a:solidFill>
                  <a:srgbClr val="545454"/>
                </a:solidFill>
                <a:latin typeface="Garet"/>
                <a:ea typeface="Garet"/>
                <a:cs typeface="Garet"/>
                <a:sym typeface="Garet"/>
              </a:rPr>
              <a:t>We converted the features consisting of object data type into numeric data type by using the string replacement function.</a:t>
            </a: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857260" y="1240092"/>
            <a:ext cx="11523754" cy="2528626"/>
          </a:xfrm>
          <a:custGeom>
            <a:avLst/>
            <a:gdLst/>
            <a:ahLst/>
            <a:cxnLst/>
            <a:rect r="r" b="b" t="t" l="l"/>
            <a:pathLst>
              <a:path h="2528626" w="11523754">
                <a:moveTo>
                  <a:pt x="0" y="0"/>
                </a:moveTo>
                <a:lnTo>
                  <a:pt x="11523754" y="0"/>
                </a:lnTo>
                <a:lnTo>
                  <a:pt x="11523754" y="2528626"/>
                </a:lnTo>
                <a:lnTo>
                  <a:pt x="0" y="2528626"/>
                </a:lnTo>
                <a:lnTo>
                  <a:pt x="0" y="0"/>
                </a:lnTo>
                <a:close/>
              </a:path>
            </a:pathLst>
          </a:custGeom>
          <a:blipFill>
            <a:blip r:embed="rId6"/>
            <a:stretch>
              <a:fillRect l="0" t="-600" r="0" b="-600"/>
            </a:stretch>
          </a:blipFill>
        </p:spPr>
      </p:sp>
      <p:sp>
        <p:nvSpPr>
          <p:cNvPr name="Freeform 6" id="6"/>
          <p:cNvSpPr/>
          <p:nvPr/>
        </p:nvSpPr>
        <p:spPr>
          <a:xfrm flipH="false" flipV="false" rot="0">
            <a:off x="0" y="5347609"/>
            <a:ext cx="18039920" cy="2119691"/>
          </a:xfrm>
          <a:custGeom>
            <a:avLst/>
            <a:gdLst/>
            <a:ahLst/>
            <a:cxnLst/>
            <a:rect r="r" b="b" t="t" l="l"/>
            <a:pathLst>
              <a:path h="2119691" w="18039920">
                <a:moveTo>
                  <a:pt x="0" y="0"/>
                </a:moveTo>
                <a:lnTo>
                  <a:pt x="18039920" y="0"/>
                </a:lnTo>
                <a:lnTo>
                  <a:pt x="18039920" y="2119690"/>
                </a:lnTo>
                <a:lnTo>
                  <a:pt x="0" y="2119690"/>
                </a:lnTo>
                <a:lnTo>
                  <a:pt x="0" y="0"/>
                </a:lnTo>
                <a:close/>
              </a:path>
            </a:pathLst>
          </a:custGeom>
          <a:blipFill>
            <a:blip r:embed="rId7"/>
            <a:stretch>
              <a:fillRect l="0" t="0" r="0" b="0"/>
            </a:stretch>
          </a:blipFill>
        </p:spPr>
      </p:sp>
      <p:sp>
        <p:nvSpPr>
          <p:cNvPr name="TextBox 7" id="7"/>
          <p:cNvSpPr txBox="true"/>
          <p:nvPr/>
        </p:nvSpPr>
        <p:spPr>
          <a:xfrm rot="0">
            <a:off x="2036160" y="-152400"/>
            <a:ext cx="14178096"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FEATURE ENGINEERING</a:t>
            </a:r>
          </a:p>
        </p:txBody>
      </p:sp>
      <p:sp>
        <p:nvSpPr>
          <p:cNvPr name="TextBox 8" id="8"/>
          <p:cNvSpPr txBox="true"/>
          <p:nvPr/>
        </p:nvSpPr>
        <p:spPr>
          <a:xfrm rot="0">
            <a:off x="129670" y="7981390"/>
            <a:ext cx="18288000" cy="1726609"/>
          </a:xfrm>
          <a:prstGeom prst="rect">
            <a:avLst/>
          </a:prstGeom>
        </p:spPr>
        <p:txBody>
          <a:bodyPr anchor="t" rtlCol="false" tIns="0" lIns="0" bIns="0" rIns="0">
            <a:spAutoFit/>
          </a:bodyPr>
          <a:lstStyle/>
          <a:p>
            <a:pPr algn="ctr">
              <a:lnSpc>
                <a:spcPts val="4576"/>
              </a:lnSpc>
            </a:pPr>
            <a:r>
              <a:rPr lang="en-US" sz="3268">
                <a:solidFill>
                  <a:srgbClr val="545454"/>
                </a:solidFill>
                <a:latin typeface="Garet"/>
                <a:ea typeface="Garet"/>
                <a:cs typeface="Garet"/>
                <a:sym typeface="Garet"/>
              </a:rPr>
              <a:t>Further we added a dummy column titled as ‘Total_Arrests_Lag1’, where the data of previous year’s Total is added for better accuracy of predictive models like cumulative frequency.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33535" y="6916173"/>
            <a:ext cx="16020930" cy="2307597"/>
          </a:xfrm>
          <a:prstGeom prst="rect">
            <a:avLst/>
          </a:prstGeom>
        </p:spPr>
        <p:txBody>
          <a:bodyPr anchor="t" rtlCol="false" tIns="0" lIns="0" bIns="0" rIns="0">
            <a:spAutoFit/>
          </a:bodyPr>
          <a:lstStyle/>
          <a:p>
            <a:pPr algn="ctr">
              <a:lnSpc>
                <a:spcPts val="4576"/>
              </a:lnSpc>
            </a:pPr>
            <a:r>
              <a:rPr lang="en-US" sz="3268">
                <a:solidFill>
                  <a:srgbClr val="545454"/>
                </a:solidFill>
                <a:latin typeface="Garet"/>
                <a:ea typeface="Garet"/>
                <a:cs typeface="Garet"/>
                <a:sym typeface="Garet"/>
              </a:rPr>
              <a:t>We then used One-Hot Encoding method to create dummy features for all the counties and the dummy features we created are in boolean , basically it creates new Binary columns for each category.</a:t>
            </a:r>
          </a:p>
          <a:p>
            <a:pPr algn="ctr">
              <a:lnSpc>
                <a:spcPts val="4576"/>
              </a:lnSpc>
            </a:pP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6" id="6"/>
          <p:cNvSpPr/>
          <p:nvPr/>
        </p:nvSpPr>
        <p:spPr>
          <a:xfrm flipH="false" flipV="false" rot="0">
            <a:off x="299197" y="2917632"/>
            <a:ext cx="17689605" cy="3248692"/>
          </a:xfrm>
          <a:custGeom>
            <a:avLst/>
            <a:gdLst/>
            <a:ahLst/>
            <a:cxnLst/>
            <a:rect r="r" b="b" t="t" l="l"/>
            <a:pathLst>
              <a:path h="3248692" w="17689605">
                <a:moveTo>
                  <a:pt x="0" y="0"/>
                </a:moveTo>
                <a:lnTo>
                  <a:pt x="17689606" y="0"/>
                </a:lnTo>
                <a:lnTo>
                  <a:pt x="17689606" y="3248692"/>
                </a:lnTo>
                <a:lnTo>
                  <a:pt x="0" y="3248692"/>
                </a:lnTo>
                <a:lnTo>
                  <a:pt x="0" y="0"/>
                </a:lnTo>
                <a:close/>
              </a:path>
            </a:pathLst>
          </a:custGeom>
          <a:blipFill>
            <a:blip r:embed="rId6"/>
            <a:stretch>
              <a:fillRect l="-23983" t="-3733" r="-23983" b="0"/>
            </a:stretch>
          </a:blipFill>
        </p:spPr>
      </p:sp>
      <p:sp>
        <p:nvSpPr>
          <p:cNvPr name="TextBox 7" id="7"/>
          <p:cNvSpPr txBox="true"/>
          <p:nvPr/>
        </p:nvSpPr>
        <p:spPr>
          <a:xfrm rot="0">
            <a:off x="2054952" y="361496"/>
            <a:ext cx="14178096"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FEATURE ENGINEERING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791670" y="1417759"/>
            <a:ext cx="6139621" cy="8046421"/>
          </a:xfrm>
          <a:prstGeom prst="rect">
            <a:avLst/>
          </a:prstGeom>
        </p:spPr>
        <p:txBody>
          <a:bodyPr anchor="t" rtlCol="false" tIns="0" lIns="0" bIns="0" rIns="0">
            <a:spAutoFit/>
          </a:bodyPr>
          <a:lstStyle/>
          <a:p>
            <a:pPr algn="ctr">
              <a:lnSpc>
                <a:spcPts val="6361"/>
              </a:lnSpc>
            </a:pPr>
            <a:r>
              <a:rPr lang="en-US" sz="4543">
                <a:solidFill>
                  <a:srgbClr val="545454"/>
                </a:solidFill>
                <a:latin typeface="Garet"/>
                <a:ea typeface="Garet"/>
                <a:cs typeface="Garet"/>
                <a:sym typeface="Garet"/>
              </a:rPr>
              <a:t>We grouped the data for all types of crime and total of all the years from    1970 - 2024 almost 54 years, to visualize it in a line graph for easier and better understanding.</a:t>
            </a:r>
          </a:p>
          <a:p>
            <a:pPr algn="ctr">
              <a:lnSpc>
                <a:spcPts val="6361"/>
              </a:lnSpc>
            </a:pP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6" id="6"/>
          <p:cNvSpPr/>
          <p:nvPr/>
        </p:nvSpPr>
        <p:spPr>
          <a:xfrm flipH="false" flipV="false" rot="0">
            <a:off x="134216" y="1429813"/>
            <a:ext cx="11343950" cy="7572087"/>
          </a:xfrm>
          <a:custGeom>
            <a:avLst/>
            <a:gdLst/>
            <a:ahLst/>
            <a:cxnLst/>
            <a:rect r="r" b="b" t="t" l="l"/>
            <a:pathLst>
              <a:path h="7572087" w="11343950">
                <a:moveTo>
                  <a:pt x="0" y="0"/>
                </a:moveTo>
                <a:lnTo>
                  <a:pt x="11343950" y="0"/>
                </a:lnTo>
                <a:lnTo>
                  <a:pt x="11343950" y="7572087"/>
                </a:lnTo>
                <a:lnTo>
                  <a:pt x="0" y="7572087"/>
                </a:lnTo>
                <a:lnTo>
                  <a:pt x="0" y="0"/>
                </a:lnTo>
                <a:close/>
              </a:path>
            </a:pathLst>
          </a:custGeom>
          <a:blipFill>
            <a:blip r:embed="rId6"/>
            <a:stretch>
              <a:fillRect l="0" t="0" r="0" b="0"/>
            </a:stretch>
          </a:blipFill>
        </p:spPr>
      </p:sp>
      <p:sp>
        <p:nvSpPr>
          <p:cNvPr name="TextBox 7" id="7"/>
          <p:cNvSpPr txBox="true"/>
          <p:nvPr/>
        </p:nvSpPr>
        <p:spPr>
          <a:xfrm rot="0">
            <a:off x="1821514" y="37321"/>
            <a:ext cx="14178096"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INITIAL VISUALIZATION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512541" y="1794415"/>
            <a:ext cx="12310026" cy="4646914"/>
          </a:xfrm>
          <a:prstGeom prst="rect">
            <a:avLst/>
          </a:prstGeom>
        </p:spPr>
        <p:txBody>
          <a:bodyPr anchor="t" rtlCol="false" tIns="0" lIns="0" bIns="0" rIns="0">
            <a:spAutoFit/>
          </a:bodyPr>
          <a:lstStyle/>
          <a:p>
            <a:pPr algn="l">
              <a:lnSpc>
                <a:spcPts val="5320"/>
              </a:lnSpc>
            </a:pPr>
            <a:r>
              <a:rPr lang="en-US" sz="3800">
                <a:solidFill>
                  <a:srgbClr val="545454"/>
                </a:solidFill>
                <a:latin typeface="Garet"/>
                <a:ea typeface="Garet"/>
                <a:cs typeface="Garet"/>
                <a:sym typeface="Garet"/>
              </a:rPr>
              <a:t>We then handled missing values in the data. We didn’t have any missing values as such but once we added the ‘Total_Arrests_Lag’ feature the value of it for the year 1970 became NaN for all counties which we replaced with ‘0’ using ‘fillna’ feature.</a:t>
            </a:r>
          </a:p>
          <a:p>
            <a:pPr algn="l">
              <a:lnSpc>
                <a:spcPts val="5320"/>
              </a:lnSpc>
            </a:pP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6" id="6"/>
          <p:cNvSpPr/>
          <p:nvPr/>
        </p:nvSpPr>
        <p:spPr>
          <a:xfrm flipH="false" flipV="false" rot="0">
            <a:off x="1821514" y="1870615"/>
            <a:ext cx="3358477" cy="7007417"/>
          </a:xfrm>
          <a:custGeom>
            <a:avLst/>
            <a:gdLst/>
            <a:ahLst/>
            <a:cxnLst/>
            <a:rect r="r" b="b" t="t" l="l"/>
            <a:pathLst>
              <a:path h="7007417" w="3358477">
                <a:moveTo>
                  <a:pt x="0" y="0"/>
                </a:moveTo>
                <a:lnTo>
                  <a:pt x="3358477" y="0"/>
                </a:lnTo>
                <a:lnTo>
                  <a:pt x="3358477" y="7007417"/>
                </a:lnTo>
                <a:lnTo>
                  <a:pt x="0" y="7007417"/>
                </a:lnTo>
                <a:lnTo>
                  <a:pt x="0" y="0"/>
                </a:lnTo>
                <a:close/>
              </a:path>
            </a:pathLst>
          </a:custGeom>
          <a:blipFill>
            <a:blip r:embed="rId6"/>
            <a:stretch>
              <a:fillRect l="0" t="0" r="0" b="0"/>
            </a:stretch>
          </a:blipFill>
        </p:spPr>
      </p:sp>
      <p:sp>
        <p:nvSpPr>
          <p:cNvPr name="Freeform 7" id="7"/>
          <p:cNvSpPr/>
          <p:nvPr/>
        </p:nvSpPr>
        <p:spPr>
          <a:xfrm flipH="false" flipV="false" rot="0">
            <a:off x="5853313" y="6202732"/>
            <a:ext cx="10996730" cy="2675301"/>
          </a:xfrm>
          <a:custGeom>
            <a:avLst/>
            <a:gdLst/>
            <a:ahLst/>
            <a:cxnLst/>
            <a:rect r="r" b="b" t="t" l="l"/>
            <a:pathLst>
              <a:path h="2675301" w="10996730">
                <a:moveTo>
                  <a:pt x="0" y="0"/>
                </a:moveTo>
                <a:lnTo>
                  <a:pt x="10996730" y="0"/>
                </a:lnTo>
                <a:lnTo>
                  <a:pt x="10996730" y="2675300"/>
                </a:lnTo>
                <a:lnTo>
                  <a:pt x="0" y="2675300"/>
                </a:lnTo>
                <a:lnTo>
                  <a:pt x="0" y="0"/>
                </a:lnTo>
                <a:close/>
              </a:path>
            </a:pathLst>
          </a:custGeom>
          <a:blipFill>
            <a:blip r:embed="rId7"/>
            <a:stretch>
              <a:fillRect l="0" t="0" r="0" b="0"/>
            </a:stretch>
          </a:blipFill>
        </p:spPr>
      </p:sp>
      <p:sp>
        <p:nvSpPr>
          <p:cNvPr name="TextBox 8" id="8"/>
          <p:cNvSpPr txBox="true"/>
          <p:nvPr/>
        </p:nvSpPr>
        <p:spPr>
          <a:xfrm rot="0">
            <a:off x="1182938" y="233940"/>
            <a:ext cx="15922124"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HANDLING MISSING VALUES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0" y="4255631"/>
            <a:ext cx="18288000" cy="2782940"/>
          </a:xfrm>
          <a:prstGeom prst="rect">
            <a:avLst/>
          </a:prstGeom>
        </p:spPr>
        <p:txBody>
          <a:bodyPr anchor="t" rtlCol="false" tIns="0" lIns="0" bIns="0" rIns="0">
            <a:spAutoFit/>
          </a:bodyPr>
          <a:lstStyle/>
          <a:p>
            <a:pPr algn="ctr">
              <a:lnSpc>
                <a:spcPts val="5582"/>
              </a:lnSpc>
            </a:pPr>
            <a:r>
              <a:rPr lang="en-US" sz="3987">
                <a:solidFill>
                  <a:srgbClr val="545454"/>
                </a:solidFill>
                <a:latin typeface="Garet"/>
                <a:ea typeface="Garet"/>
                <a:cs typeface="Garet"/>
                <a:sym typeface="Garet"/>
              </a:rPr>
              <a:t>Now, using the ‘train_test_split’ feature we split the data into training and testing datasets where data from 2020 to 2024 is taken in consideration for test case.</a:t>
            </a:r>
          </a:p>
          <a:p>
            <a:pPr algn="ctr">
              <a:lnSpc>
                <a:spcPts val="5582"/>
              </a:lnSpc>
            </a:pP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6" id="6"/>
          <p:cNvSpPr/>
          <p:nvPr/>
        </p:nvSpPr>
        <p:spPr>
          <a:xfrm flipH="false" flipV="false" rot="0">
            <a:off x="3474477" y="2676843"/>
            <a:ext cx="9310270" cy="1379299"/>
          </a:xfrm>
          <a:custGeom>
            <a:avLst/>
            <a:gdLst/>
            <a:ahLst/>
            <a:cxnLst/>
            <a:rect r="r" b="b" t="t" l="l"/>
            <a:pathLst>
              <a:path h="1379299" w="9310270">
                <a:moveTo>
                  <a:pt x="0" y="0"/>
                </a:moveTo>
                <a:lnTo>
                  <a:pt x="9310271" y="0"/>
                </a:lnTo>
                <a:lnTo>
                  <a:pt x="9310271" y="1379299"/>
                </a:lnTo>
                <a:lnTo>
                  <a:pt x="0" y="1379299"/>
                </a:lnTo>
                <a:lnTo>
                  <a:pt x="0" y="0"/>
                </a:lnTo>
                <a:close/>
              </a:path>
            </a:pathLst>
          </a:custGeom>
          <a:blipFill>
            <a:blip r:embed="rId6"/>
            <a:stretch>
              <a:fillRect l="0" t="0" r="0" b="0"/>
            </a:stretch>
          </a:blipFill>
        </p:spPr>
      </p:sp>
      <p:sp>
        <p:nvSpPr>
          <p:cNvPr name="Freeform 7" id="7"/>
          <p:cNvSpPr/>
          <p:nvPr/>
        </p:nvSpPr>
        <p:spPr>
          <a:xfrm flipH="false" flipV="false" rot="0">
            <a:off x="530694" y="6449591"/>
            <a:ext cx="15683562" cy="3546025"/>
          </a:xfrm>
          <a:custGeom>
            <a:avLst/>
            <a:gdLst/>
            <a:ahLst/>
            <a:cxnLst/>
            <a:rect r="r" b="b" t="t" l="l"/>
            <a:pathLst>
              <a:path h="3546025" w="15683562">
                <a:moveTo>
                  <a:pt x="0" y="0"/>
                </a:moveTo>
                <a:lnTo>
                  <a:pt x="15683562" y="0"/>
                </a:lnTo>
                <a:lnTo>
                  <a:pt x="15683562" y="3546025"/>
                </a:lnTo>
                <a:lnTo>
                  <a:pt x="0" y="3546025"/>
                </a:lnTo>
                <a:lnTo>
                  <a:pt x="0" y="0"/>
                </a:lnTo>
                <a:close/>
              </a:path>
            </a:pathLst>
          </a:custGeom>
          <a:blipFill>
            <a:blip r:embed="rId7"/>
            <a:stretch>
              <a:fillRect l="0" t="0" r="0" b="0"/>
            </a:stretch>
          </a:blipFill>
        </p:spPr>
      </p:sp>
      <p:sp>
        <p:nvSpPr>
          <p:cNvPr name="TextBox 8" id="8"/>
          <p:cNvSpPr txBox="true"/>
          <p:nvPr/>
        </p:nvSpPr>
        <p:spPr>
          <a:xfrm rot="0">
            <a:off x="1821514" y="1922"/>
            <a:ext cx="12616197" cy="2253627"/>
          </a:xfrm>
          <a:prstGeom prst="rect">
            <a:avLst/>
          </a:prstGeom>
        </p:spPr>
        <p:txBody>
          <a:bodyPr anchor="t" rtlCol="false" tIns="0" lIns="0" bIns="0" rIns="0">
            <a:spAutoFit/>
          </a:bodyPr>
          <a:lstStyle/>
          <a:p>
            <a:pPr algn="ctr">
              <a:lnSpc>
                <a:spcPts val="9071"/>
              </a:lnSpc>
            </a:pPr>
            <a:r>
              <a:rPr lang="en-US" sz="6479">
                <a:solidFill>
                  <a:srgbClr val="3F3D3E"/>
                </a:solidFill>
                <a:latin typeface="Alexandria"/>
                <a:ea typeface="Alexandria"/>
                <a:cs typeface="Alexandria"/>
                <a:sym typeface="Alexandria"/>
              </a:rPr>
              <a:t>SPLITING DATA INTO TRAINING AND TESTING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33664" y="6140465"/>
            <a:ext cx="8709274" cy="3891825"/>
          </a:xfrm>
          <a:custGeom>
            <a:avLst/>
            <a:gdLst/>
            <a:ahLst/>
            <a:cxnLst/>
            <a:rect r="r" b="b" t="t" l="l"/>
            <a:pathLst>
              <a:path h="3891825" w="8709274">
                <a:moveTo>
                  <a:pt x="0" y="0"/>
                </a:moveTo>
                <a:lnTo>
                  <a:pt x="8709275" y="0"/>
                </a:lnTo>
                <a:lnTo>
                  <a:pt x="8709275" y="3891825"/>
                </a:lnTo>
                <a:lnTo>
                  <a:pt x="0" y="3891825"/>
                </a:lnTo>
                <a:lnTo>
                  <a:pt x="0" y="0"/>
                </a:lnTo>
                <a:close/>
              </a:path>
            </a:pathLst>
          </a:custGeom>
          <a:blipFill>
            <a:blip r:embed="rId6"/>
            <a:stretch>
              <a:fillRect l="0" t="0" r="0" b="0"/>
            </a:stretch>
          </a:blipFill>
        </p:spPr>
      </p:sp>
      <p:sp>
        <p:nvSpPr>
          <p:cNvPr name="TextBox 5" id="5"/>
          <p:cNvSpPr txBox="true"/>
          <p:nvPr/>
        </p:nvSpPr>
        <p:spPr>
          <a:xfrm rot="0">
            <a:off x="9354923" y="6124535"/>
            <a:ext cx="8297290" cy="3241958"/>
          </a:xfrm>
          <a:prstGeom prst="rect">
            <a:avLst/>
          </a:prstGeom>
        </p:spPr>
        <p:txBody>
          <a:bodyPr anchor="t" rtlCol="false" tIns="0" lIns="0" bIns="0" rIns="0">
            <a:spAutoFit/>
          </a:bodyPr>
          <a:lstStyle/>
          <a:p>
            <a:pPr algn="just">
              <a:lnSpc>
                <a:spcPts val="4435"/>
              </a:lnSpc>
            </a:pPr>
            <a:r>
              <a:rPr lang="en-US" sz="3168">
                <a:solidFill>
                  <a:srgbClr val="545454"/>
                </a:solidFill>
                <a:latin typeface="Garet"/>
                <a:ea typeface="Garet"/>
                <a:cs typeface="Garet"/>
                <a:sym typeface="Garet"/>
              </a:rPr>
              <a:t>We used Random Forest Classifier model as a complex model for classification and were able to achieve an </a:t>
            </a:r>
            <a:r>
              <a:rPr lang="en-US" sz="3168" b="true">
                <a:solidFill>
                  <a:srgbClr val="545454"/>
                </a:solidFill>
                <a:latin typeface="Garet Bold"/>
                <a:ea typeface="Garet Bold"/>
                <a:cs typeface="Garet Bold"/>
                <a:sym typeface="Garet Bold"/>
              </a:rPr>
              <a:t>accuracy of 0.97 along with recall of 0.99.  </a:t>
            </a:r>
          </a:p>
          <a:p>
            <a:pPr algn="just">
              <a:lnSpc>
                <a:spcPts val="3595"/>
              </a:lnSpc>
            </a:pPr>
          </a:p>
        </p:txBody>
      </p:sp>
      <p:sp>
        <p:nvSpPr>
          <p:cNvPr name="AutoShape 6" id="6"/>
          <p:cNvSpPr/>
          <p:nvPr/>
        </p:nvSpPr>
        <p:spPr>
          <a:xfrm>
            <a:off x="5200641" y="9923385"/>
            <a:ext cx="11672841" cy="0"/>
          </a:xfrm>
          <a:prstGeom prst="line">
            <a:avLst/>
          </a:prstGeom>
          <a:ln cap="flat" w="9525">
            <a:solidFill>
              <a:srgbClr val="545454"/>
            </a:solidFill>
            <a:prstDash val="solid"/>
            <a:headEnd type="none" len="sm" w="sm"/>
            <a:tailEnd type="none" len="sm" w="sm"/>
          </a:ln>
        </p:spPr>
      </p:sp>
      <p:sp>
        <p:nvSpPr>
          <p:cNvPr name="Freeform 7" id="7"/>
          <p:cNvSpPr/>
          <p:nvPr/>
        </p:nvSpPr>
        <p:spPr>
          <a:xfrm flipH="false" flipV="false" rot="0">
            <a:off x="233664" y="1145236"/>
            <a:ext cx="17418548" cy="4833647"/>
          </a:xfrm>
          <a:custGeom>
            <a:avLst/>
            <a:gdLst/>
            <a:ahLst/>
            <a:cxnLst/>
            <a:rect r="r" b="b" t="t" l="l"/>
            <a:pathLst>
              <a:path h="4833647" w="17418548">
                <a:moveTo>
                  <a:pt x="0" y="0"/>
                </a:moveTo>
                <a:lnTo>
                  <a:pt x="17418549" y="0"/>
                </a:lnTo>
                <a:lnTo>
                  <a:pt x="17418549" y="4833648"/>
                </a:lnTo>
                <a:lnTo>
                  <a:pt x="0" y="4833648"/>
                </a:lnTo>
                <a:lnTo>
                  <a:pt x="0" y="0"/>
                </a:lnTo>
                <a:close/>
              </a:path>
            </a:pathLst>
          </a:custGeom>
          <a:blipFill>
            <a:blip r:embed="rId7"/>
            <a:stretch>
              <a:fillRect l="0" t="0" r="0" b="0"/>
            </a:stretch>
          </a:blipFill>
        </p:spPr>
      </p:sp>
      <p:sp>
        <p:nvSpPr>
          <p:cNvPr name="TextBox 8" id="8"/>
          <p:cNvSpPr txBox="true"/>
          <p:nvPr/>
        </p:nvSpPr>
        <p:spPr>
          <a:xfrm rot="0">
            <a:off x="872672" y="-142875"/>
            <a:ext cx="15299025" cy="1252032"/>
          </a:xfrm>
          <a:prstGeom prst="rect">
            <a:avLst/>
          </a:prstGeom>
        </p:spPr>
        <p:txBody>
          <a:bodyPr anchor="t" rtlCol="false" tIns="0" lIns="0" bIns="0" rIns="0">
            <a:spAutoFit/>
          </a:bodyPr>
          <a:lstStyle/>
          <a:p>
            <a:pPr algn="ctr">
              <a:lnSpc>
                <a:spcPts val="10239"/>
              </a:lnSpc>
            </a:pPr>
            <a:r>
              <a:rPr lang="en-US" b="true" sz="7314">
                <a:solidFill>
                  <a:srgbClr val="3F3D3E"/>
                </a:solidFill>
                <a:latin typeface="Alexandria Bold"/>
                <a:ea typeface="Alexandria Bold"/>
                <a:cs typeface="Alexandria Bold"/>
                <a:sym typeface="Alexandria Bold"/>
              </a:rPr>
              <a:t>RANDOM FOREST CLASSIFIER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5" id="5"/>
          <p:cNvSpPr/>
          <p:nvPr/>
        </p:nvSpPr>
        <p:spPr>
          <a:xfrm flipH="false" flipV="false" rot="0">
            <a:off x="404230" y="1596728"/>
            <a:ext cx="9258387" cy="7414843"/>
          </a:xfrm>
          <a:custGeom>
            <a:avLst/>
            <a:gdLst/>
            <a:ahLst/>
            <a:cxnLst/>
            <a:rect r="r" b="b" t="t" l="l"/>
            <a:pathLst>
              <a:path h="7414843" w="9258387">
                <a:moveTo>
                  <a:pt x="0" y="0"/>
                </a:moveTo>
                <a:lnTo>
                  <a:pt x="9258388" y="0"/>
                </a:lnTo>
                <a:lnTo>
                  <a:pt x="9258388" y="7414843"/>
                </a:lnTo>
                <a:lnTo>
                  <a:pt x="0" y="7414843"/>
                </a:lnTo>
                <a:lnTo>
                  <a:pt x="0" y="0"/>
                </a:lnTo>
                <a:close/>
              </a:path>
            </a:pathLst>
          </a:custGeom>
          <a:blipFill>
            <a:blip r:embed="rId6"/>
            <a:stretch>
              <a:fillRect l="0" t="0" r="0" b="0"/>
            </a:stretch>
          </a:blipFill>
        </p:spPr>
      </p:sp>
      <p:sp>
        <p:nvSpPr>
          <p:cNvPr name="Freeform 6" id="6"/>
          <p:cNvSpPr/>
          <p:nvPr/>
        </p:nvSpPr>
        <p:spPr>
          <a:xfrm flipH="false" flipV="false" rot="0">
            <a:off x="10168755" y="5464675"/>
            <a:ext cx="5844274" cy="4822325"/>
          </a:xfrm>
          <a:custGeom>
            <a:avLst/>
            <a:gdLst/>
            <a:ahLst/>
            <a:cxnLst/>
            <a:rect r="r" b="b" t="t" l="l"/>
            <a:pathLst>
              <a:path h="4822325" w="5844274">
                <a:moveTo>
                  <a:pt x="0" y="0"/>
                </a:moveTo>
                <a:lnTo>
                  <a:pt x="5844274" y="0"/>
                </a:lnTo>
                <a:lnTo>
                  <a:pt x="5844274" y="4822325"/>
                </a:lnTo>
                <a:lnTo>
                  <a:pt x="0" y="4822325"/>
                </a:lnTo>
                <a:lnTo>
                  <a:pt x="0" y="0"/>
                </a:lnTo>
                <a:close/>
              </a:path>
            </a:pathLst>
          </a:custGeom>
          <a:blipFill>
            <a:blip r:embed="rId7"/>
            <a:stretch>
              <a:fillRect l="0" t="0" r="0" b="0"/>
            </a:stretch>
          </a:blipFill>
        </p:spPr>
      </p:sp>
      <p:sp>
        <p:nvSpPr>
          <p:cNvPr name="TextBox 7" id="7"/>
          <p:cNvSpPr txBox="true"/>
          <p:nvPr/>
        </p:nvSpPr>
        <p:spPr>
          <a:xfrm rot="0">
            <a:off x="591469" y="262515"/>
            <a:ext cx="17105062" cy="1177932"/>
          </a:xfrm>
          <a:prstGeom prst="rect">
            <a:avLst/>
          </a:prstGeom>
        </p:spPr>
        <p:txBody>
          <a:bodyPr anchor="t" rtlCol="false" tIns="0" lIns="0" bIns="0" rIns="0">
            <a:spAutoFit/>
          </a:bodyPr>
          <a:lstStyle/>
          <a:p>
            <a:pPr algn="ctr">
              <a:lnSpc>
                <a:spcPts val="9628"/>
              </a:lnSpc>
            </a:pPr>
            <a:r>
              <a:rPr lang="en-US" b="true" sz="6877">
                <a:solidFill>
                  <a:srgbClr val="3F3D3E"/>
                </a:solidFill>
                <a:latin typeface="Alexandria Bold"/>
                <a:ea typeface="Alexandria Bold"/>
                <a:cs typeface="Alexandria Bold"/>
                <a:sym typeface="Alexandria Bold"/>
              </a:rPr>
              <a:t>RANDOM FOREST CLASSIFIER</a:t>
            </a:r>
          </a:p>
        </p:txBody>
      </p:sp>
      <p:sp>
        <p:nvSpPr>
          <p:cNvPr name="TextBox 8" id="8"/>
          <p:cNvSpPr txBox="true"/>
          <p:nvPr/>
        </p:nvSpPr>
        <p:spPr>
          <a:xfrm rot="0">
            <a:off x="10168755" y="1549103"/>
            <a:ext cx="7800576" cy="4089022"/>
          </a:xfrm>
          <a:prstGeom prst="rect">
            <a:avLst/>
          </a:prstGeom>
        </p:spPr>
        <p:txBody>
          <a:bodyPr anchor="t" rtlCol="false" tIns="0" lIns="0" bIns="0" rIns="0">
            <a:spAutoFit/>
          </a:bodyPr>
          <a:lstStyle/>
          <a:p>
            <a:pPr algn="l">
              <a:lnSpc>
                <a:spcPts val="4062"/>
              </a:lnSpc>
            </a:pPr>
            <a:r>
              <a:rPr lang="en-US" sz="2901">
                <a:solidFill>
                  <a:srgbClr val="545454"/>
                </a:solidFill>
                <a:latin typeface="Garet"/>
                <a:ea typeface="Garet"/>
                <a:cs typeface="Garet"/>
                <a:sym typeface="Garet"/>
              </a:rPr>
              <a:t>We can clearly see the efficiency of the random forest model through the confusion matrix visualization. Only 20 samples were misidentified from which we can state that the model is highly efficient for our dataset and problem statement.</a:t>
            </a:r>
          </a:p>
          <a:p>
            <a:pPr algn="l">
              <a:lnSpc>
                <a:spcPts val="4062"/>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0">
            <a:off x="3131536" y="1470909"/>
            <a:ext cx="12024928" cy="2170062"/>
          </a:xfrm>
          <a:custGeom>
            <a:avLst/>
            <a:gdLst/>
            <a:ahLst/>
            <a:cxnLst/>
            <a:rect r="r" b="b" t="t" l="l"/>
            <a:pathLst>
              <a:path h="2170062" w="12024928">
                <a:moveTo>
                  <a:pt x="0" y="0"/>
                </a:moveTo>
                <a:lnTo>
                  <a:pt x="12024928" y="0"/>
                </a:lnTo>
                <a:lnTo>
                  <a:pt x="12024928" y="2170062"/>
                </a:lnTo>
                <a:lnTo>
                  <a:pt x="0" y="2170062"/>
                </a:lnTo>
                <a:lnTo>
                  <a:pt x="0" y="0"/>
                </a:lnTo>
                <a:close/>
              </a:path>
            </a:pathLst>
          </a:custGeom>
          <a:blipFill>
            <a:blip r:embed="rId2"/>
            <a:stretch>
              <a:fillRect l="0" t="0" r="0" b="0"/>
            </a:stretch>
          </a:blipFill>
        </p:spPr>
      </p:sp>
      <p:sp>
        <p:nvSpPr>
          <p:cNvPr name="Freeform 3" id="3"/>
          <p:cNvSpPr/>
          <p:nvPr/>
        </p:nvSpPr>
        <p:spPr>
          <a:xfrm flipH="false" flipV="false" rot="0">
            <a:off x="920645" y="3945771"/>
            <a:ext cx="5470393" cy="5721184"/>
          </a:xfrm>
          <a:custGeom>
            <a:avLst/>
            <a:gdLst/>
            <a:ahLst/>
            <a:cxnLst/>
            <a:rect r="r" b="b" t="t" l="l"/>
            <a:pathLst>
              <a:path h="5721184" w="5470393">
                <a:moveTo>
                  <a:pt x="0" y="0"/>
                </a:moveTo>
                <a:lnTo>
                  <a:pt x="5470392" y="0"/>
                </a:lnTo>
                <a:lnTo>
                  <a:pt x="5470392" y="5721184"/>
                </a:lnTo>
                <a:lnTo>
                  <a:pt x="0" y="5721184"/>
                </a:lnTo>
                <a:lnTo>
                  <a:pt x="0" y="0"/>
                </a:lnTo>
                <a:close/>
              </a:path>
            </a:pathLst>
          </a:custGeom>
          <a:blipFill>
            <a:blip r:embed="rId3"/>
            <a:stretch>
              <a:fillRect l="0" t="0" r="0" b="0"/>
            </a:stretch>
          </a:blipFill>
        </p:spPr>
      </p:sp>
      <p:sp>
        <p:nvSpPr>
          <p:cNvPr name="TextBox 4" id="4"/>
          <p:cNvSpPr txBox="true"/>
          <p:nvPr/>
        </p:nvSpPr>
        <p:spPr>
          <a:xfrm rot="0">
            <a:off x="920645" y="333809"/>
            <a:ext cx="16338655" cy="831735"/>
          </a:xfrm>
          <a:prstGeom prst="rect">
            <a:avLst/>
          </a:prstGeom>
        </p:spPr>
        <p:txBody>
          <a:bodyPr anchor="t" rtlCol="false" tIns="0" lIns="0" bIns="0" rIns="0">
            <a:spAutoFit/>
          </a:bodyPr>
          <a:lstStyle/>
          <a:p>
            <a:pPr algn="ctr">
              <a:lnSpc>
                <a:spcPts val="6814"/>
              </a:lnSpc>
              <a:spcBef>
                <a:spcPct val="0"/>
              </a:spcBef>
            </a:pPr>
            <a:r>
              <a:rPr lang="en-US" sz="4867">
                <a:solidFill>
                  <a:srgbClr val="000000"/>
                </a:solidFill>
                <a:latin typeface="Garet"/>
                <a:ea typeface="Garet"/>
                <a:cs typeface="Garet"/>
                <a:sym typeface="Garet"/>
              </a:rPr>
              <a:t>Counties Ranked by Proportion of Years as Hotspots</a:t>
            </a:r>
          </a:p>
        </p:txBody>
      </p:sp>
      <p:sp>
        <p:nvSpPr>
          <p:cNvPr name="TextBox 5" id="5"/>
          <p:cNvSpPr txBox="true"/>
          <p:nvPr/>
        </p:nvSpPr>
        <p:spPr>
          <a:xfrm rot="0">
            <a:off x="6685809" y="4152487"/>
            <a:ext cx="11074364" cy="994713"/>
          </a:xfrm>
          <a:prstGeom prst="rect">
            <a:avLst/>
          </a:prstGeom>
        </p:spPr>
        <p:txBody>
          <a:bodyPr anchor="t" rtlCol="false" tIns="0" lIns="0" bIns="0" rIns="0">
            <a:spAutoFit/>
          </a:bodyPr>
          <a:lstStyle/>
          <a:p>
            <a:pPr algn="l">
              <a:lnSpc>
                <a:spcPts val="3981"/>
              </a:lnSpc>
              <a:spcBef>
                <a:spcPct val="0"/>
              </a:spcBef>
            </a:pPr>
            <a:r>
              <a:rPr lang="en-US" sz="2843">
                <a:solidFill>
                  <a:srgbClr val="000000"/>
                </a:solidFill>
                <a:latin typeface="Garet"/>
                <a:ea typeface="Garet"/>
                <a:cs typeface="Garet"/>
                <a:sym typeface="Garet"/>
              </a:rPr>
              <a:t>This table displays New York counties ranked based on how often they were identified as crime hotspots over the years.</a:t>
            </a:r>
          </a:p>
        </p:txBody>
      </p:sp>
      <p:sp>
        <p:nvSpPr>
          <p:cNvPr name="TextBox 6" id="6"/>
          <p:cNvSpPr txBox="true"/>
          <p:nvPr/>
        </p:nvSpPr>
        <p:spPr>
          <a:xfrm rot="0">
            <a:off x="6685184" y="5404375"/>
            <a:ext cx="11074989" cy="949364"/>
          </a:xfrm>
          <a:prstGeom prst="rect">
            <a:avLst/>
          </a:prstGeom>
        </p:spPr>
        <p:txBody>
          <a:bodyPr anchor="t" rtlCol="false" tIns="0" lIns="0" bIns="0" rIns="0">
            <a:spAutoFit/>
          </a:bodyPr>
          <a:lstStyle/>
          <a:p>
            <a:pPr algn="l">
              <a:lnSpc>
                <a:spcPts val="3843"/>
              </a:lnSpc>
              <a:spcBef>
                <a:spcPct val="0"/>
              </a:spcBef>
            </a:pPr>
            <a:r>
              <a:rPr lang="en-US" sz="2745">
                <a:solidFill>
                  <a:srgbClr val="000000"/>
                </a:solidFill>
                <a:latin typeface="Garet"/>
                <a:ea typeface="Garet"/>
                <a:cs typeface="Garet"/>
                <a:sym typeface="Garet"/>
              </a:rPr>
              <a:t>“Hotspot value 1.0” means the county was a hotspot every year in the dataset (100% of the time).</a:t>
            </a:r>
          </a:p>
        </p:txBody>
      </p:sp>
      <p:sp>
        <p:nvSpPr>
          <p:cNvPr name="TextBox 7" id="7"/>
          <p:cNvSpPr txBox="true"/>
          <p:nvPr/>
        </p:nvSpPr>
        <p:spPr>
          <a:xfrm rot="0">
            <a:off x="6685184" y="6747758"/>
            <a:ext cx="11074989" cy="949364"/>
          </a:xfrm>
          <a:prstGeom prst="rect">
            <a:avLst/>
          </a:prstGeom>
        </p:spPr>
        <p:txBody>
          <a:bodyPr anchor="t" rtlCol="false" tIns="0" lIns="0" bIns="0" rIns="0">
            <a:spAutoFit/>
          </a:bodyPr>
          <a:lstStyle/>
          <a:p>
            <a:pPr algn="l">
              <a:lnSpc>
                <a:spcPts val="3843"/>
              </a:lnSpc>
              <a:spcBef>
                <a:spcPct val="0"/>
              </a:spcBef>
            </a:pPr>
            <a:r>
              <a:rPr lang="en-US" sz="2745">
                <a:solidFill>
                  <a:srgbClr val="000000"/>
                </a:solidFill>
                <a:latin typeface="Garet"/>
                <a:ea typeface="Garet"/>
                <a:cs typeface="Garet"/>
                <a:sym typeface="Garet"/>
              </a:rPr>
              <a:t>“Hotspot value 0.0” means the county was never a hotspot in any year.</a:t>
            </a:r>
          </a:p>
        </p:txBody>
      </p:sp>
      <p:sp>
        <p:nvSpPr>
          <p:cNvPr name="TextBox 8" id="8"/>
          <p:cNvSpPr txBox="true"/>
          <p:nvPr/>
        </p:nvSpPr>
        <p:spPr>
          <a:xfrm rot="0">
            <a:off x="6685809" y="8078122"/>
            <a:ext cx="10605184" cy="1499612"/>
          </a:xfrm>
          <a:prstGeom prst="rect">
            <a:avLst/>
          </a:prstGeom>
        </p:spPr>
        <p:txBody>
          <a:bodyPr anchor="t" rtlCol="false" tIns="0" lIns="0" bIns="0" rIns="0">
            <a:spAutoFit/>
          </a:bodyPr>
          <a:lstStyle/>
          <a:p>
            <a:pPr algn="l">
              <a:lnSpc>
                <a:spcPts val="3981"/>
              </a:lnSpc>
              <a:spcBef>
                <a:spcPct val="0"/>
              </a:spcBef>
            </a:pPr>
            <a:r>
              <a:rPr lang="en-US" sz="2843">
                <a:solidFill>
                  <a:srgbClr val="000000"/>
                </a:solidFill>
                <a:latin typeface="Garet"/>
                <a:ea typeface="Garet"/>
                <a:cs typeface="Garet"/>
                <a:sym typeface="Garet"/>
              </a:rPr>
              <a:t>This helps us clearly identify regions that are chronically high-risk vs consistently safe, giving policymakers a priority list for interventions.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5" id="5"/>
          <p:cNvSpPr/>
          <p:nvPr/>
        </p:nvSpPr>
        <p:spPr>
          <a:xfrm flipH="false" flipV="false" rot="0">
            <a:off x="585847" y="2071183"/>
            <a:ext cx="10754197" cy="6806850"/>
          </a:xfrm>
          <a:custGeom>
            <a:avLst/>
            <a:gdLst/>
            <a:ahLst/>
            <a:cxnLst/>
            <a:rect r="r" b="b" t="t" l="l"/>
            <a:pathLst>
              <a:path h="6806850" w="10754197">
                <a:moveTo>
                  <a:pt x="0" y="0"/>
                </a:moveTo>
                <a:lnTo>
                  <a:pt x="10754197" y="0"/>
                </a:lnTo>
                <a:lnTo>
                  <a:pt x="10754197" y="6806849"/>
                </a:lnTo>
                <a:lnTo>
                  <a:pt x="0" y="6806849"/>
                </a:lnTo>
                <a:lnTo>
                  <a:pt x="0" y="0"/>
                </a:lnTo>
                <a:close/>
              </a:path>
            </a:pathLst>
          </a:custGeom>
          <a:blipFill>
            <a:blip r:embed="rId6"/>
            <a:stretch>
              <a:fillRect l="-635" t="0" r="-635" b="0"/>
            </a:stretch>
          </a:blipFill>
        </p:spPr>
      </p:sp>
      <p:sp>
        <p:nvSpPr>
          <p:cNvPr name="TextBox 6" id="6"/>
          <p:cNvSpPr txBox="true"/>
          <p:nvPr/>
        </p:nvSpPr>
        <p:spPr>
          <a:xfrm rot="0">
            <a:off x="745669" y="324855"/>
            <a:ext cx="17105062" cy="1392492"/>
          </a:xfrm>
          <a:prstGeom prst="rect">
            <a:avLst/>
          </a:prstGeom>
        </p:spPr>
        <p:txBody>
          <a:bodyPr anchor="t" rtlCol="false" tIns="0" lIns="0" bIns="0" rIns="0">
            <a:spAutoFit/>
          </a:bodyPr>
          <a:lstStyle/>
          <a:p>
            <a:pPr algn="ctr">
              <a:lnSpc>
                <a:spcPts val="11448"/>
              </a:lnSpc>
            </a:pPr>
            <a:r>
              <a:rPr lang="en-US" sz="8177">
                <a:solidFill>
                  <a:srgbClr val="3F3D3E"/>
                </a:solidFill>
                <a:latin typeface="Alexandria"/>
                <a:ea typeface="Alexandria"/>
                <a:cs typeface="Alexandria"/>
                <a:sym typeface="Alexandria"/>
              </a:rPr>
              <a:t>FEATURE IMPORTANCE OF RFC</a:t>
            </a:r>
          </a:p>
        </p:txBody>
      </p:sp>
      <p:sp>
        <p:nvSpPr>
          <p:cNvPr name="TextBox 7" id="7"/>
          <p:cNvSpPr txBox="true"/>
          <p:nvPr/>
        </p:nvSpPr>
        <p:spPr>
          <a:xfrm rot="0">
            <a:off x="11340044" y="3608817"/>
            <a:ext cx="6510687" cy="3237709"/>
          </a:xfrm>
          <a:prstGeom prst="rect">
            <a:avLst/>
          </a:prstGeom>
        </p:spPr>
        <p:txBody>
          <a:bodyPr anchor="t" rtlCol="false" tIns="0" lIns="0" bIns="0" rIns="0">
            <a:spAutoFit/>
          </a:bodyPr>
          <a:lstStyle/>
          <a:p>
            <a:pPr algn="ctr">
              <a:lnSpc>
                <a:spcPts val="5174"/>
              </a:lnSpc>
            </a:pPr>
            <a:r>
              <a:rPr lang="en-US" sz="3696">
                <a:solidFill>
                  <a:srgbClr val="545454"/>
                </a:solidFill>
                <a:latin typeface="Garet"/>
                <a:ea typeface="Garet"/>
                <a:cs typeface="Garet"/>
                <a:sym typeface="Garet"/>
              </a:rPr>
              <a:t>Here’s the feature importance graph for the top 15 features as per the random forest classifier.</a:t>
            </a:r>
          </a:p>
          <a:p>
            <a:pPr algn="ctr">
              <a:lnSpc>
                <a:spcPts val="5174"/>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5" id="5"/>
          <p:cNvSpPr/>
          <p:nvPr/>
        </p:nvSpPr>
        <p:spPr>
          <a:xfrm flipH="false" flipV="false" rot="0">
            <a:off x="4173587" y="1861696"/>
            <a:ext cx="9940827" cy="4660480"/>
          </a:xfrm>
          <a:custGeom>
            <a:avLst/>
            <a:gdLst/>
            <a:ahLst/>
            <a:cxnLst/>
            <a:rect r="r" b="b" t="t" l="l"/>
            <a:pathLst>
              <a:path h="4660480" w="9940827">
                <a:moveTo>
                  <a:pt x="0" y="0"/>
                </a:moveTo>
                <a:lnTo>
                  <a:pt x="9940826" y="0"/>
                </a:lnTo>
                <a:lnTo>
                  <a:pt x="9940826" y="4660480"/>
                </a:lnTo>
                <a:lnTo>
                  <a:pt x="0" y="4660480"/>
                </a:lnTo>
                <a:lnTo>
                  <a:pt x="0" y="0"/>
                </a:lnTo>
                <a:close/>
              </a:path>
            </a:pathLst>
          </a:custGeom>
          <a:blipFill>
            <a:blip r:embed="rId6"/>
            <a:stretch>
              <a:fillRect l="0" t="0" r="0" b="0"/>
            </a:stretch>
          </a:blipFill>
        </p:spPr>
      </p:sp>
      <p:sp>
        <p:nvSpPr>
          <p:cNvPr name="TextBox 6" id="6"/>
          <p:cNvSpPr txBox="true"/>
          <p:nvPr/>
        </p:nvSpPr>
        <p:spPr>
          <a:xfrm rot="0">
            <a:off x="591469" y="243465"/>
            <a:ext cx="17105062"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LOGISTIC REGRESSION</a:t>
            </a:r>
          </a:p>
        </p:txBody>
      </p:sp>
      <p:sp>
        <p:nvSpPr>
          <p:cNvPr name="TextBox 7" id="7"/>
          <p:cNvSpPr txBox="true"/>
          <p:nvPr/>
        </p:nvSpPr>
        <p:spPr>
          <a:xfrm rot="0">
            <a:off x="635787" y="6783368"/>
            <a:ext cx="16214256" cy="2474932"/>
          </a:xfrm>
          <a:prstGeom prst="rect">
            <a:avLst/>
          </a:prstGeom>
        </p:spPr>
        <p:txBody>
          <a:bodyPr anchor="t" rtlCol="false" tIns="0" lIns="0" bIns="0" rIns="0">
            <a:spAutoFit/>
          </a:bodyPr>
          <a:lstStyle/>
          <a:p>
            <a:pPr algn="ctr">
              <a:lnSpc>
                <a:spcPts val="4949"/>
              </a:lnSpc>
            </a:pPr>
            <a:r>
              <a:rPr lang="en-US" sz="3535">
                <a:solidFill>
                  <a:srgbClr val="000000"/>
                </a:solidFill>
                <a:latin typeface="Garet"/>
                <a:ea typeface="Garet"/>
                <a:cs typeface="Garet"/>
                <a:sym typeface="Garet"/>
              </a:rPr>
              <a:t>We used Logistic Regression Classifier model as a simpler model for classification and were able to achieve an accuracy of 0.93 along with recall of 0.96.  </a:t>
            </a:r>
          </a:p>
          <a:p>
            <a:pPr algn="ctr">
              <a:lnSpc>
                <a:spcPts val="4949"/>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48918" y="1211130"/>
            <a:ext cx="8384995" cy="6715362"/>
          </a:xfrm>
          <a:custGeom>
            <a:avLst/>
            <a:gdLst/>
            <a:ahLst/>
            <a:cxnLst/>
            <a:rect r="r" b="b" t="t" l="l"/>
            <a:pathLst>
              <a:path h="6715362" w="8384995">
                <a:moveTo>
                  <a:pt x="0" y="0"/>
                </a:moveTo>
                <a:lnTo>
                  <a:pt x="8384995" y="0"/>
                </a:lnTo>
                <a:lnTo>
                  <a:pt x="8384995" y="6715362"/>
                </a:lnTo>
                <a:lnTo>
                  <a:pt x="0" y="6715362"/>
                </a:lnTo>
                <a:lnTo>
                  <a:pt x="0" y="0"/>
                </a:lnTo>
                <a:close/>
              </a:path>
            </a:pathLst>
          </a:custGeom>
          <a:blipFill>
            <a:blip r:embed="rId6"/>
            <a:stretch>
              <a:fillRect l="0" t="0" r="0" b="0"/>
            </a:stretch>
          </a:blipFill>
        </p:spPr>
      </p:sp>
      <p:sp>
        <p:nvSpPr>
          <p:cNvPr name="Freeform 5" id="5"/>
          <p:cNvSpPr/>
          <p:nvPr/>
        </p:nvSpPr>
        <p:spPr>
          <a:xfrm flipH="false" flipV="false" rot="0">
            <a:off x="8968770" y="4850933"/>
            <a:ext cx="6621465" cy="5436067"/>
          </a:xfrm>
          <a:custGeom>
            <a:avLst/>
            <a:gdLst/>
            <a:ahLst/>
            <a:cxnLst/>
            <a:rect r="r" b="b" t="t" l="l"/>
            <a:pathLst>
              <a:path h="5436067" w="6621465">
                <a:moveTo>
                  <a:pt x="0" y="0"/>
                </a:moveTo>
                <a:lnTo>
                  <a:pt x="6621465" y="0"/>
                </a:lnTo>
                <a:lnTo>
                  <a:pt x="6621465" y="5436067"/>
                </a:lnTo>
                <a:lnTo>
                  <a:pt x="0" y="5436067"/>
                </a:lnTo>
                <a:lnTo>
                  <a:pt x="0" y="0"/>
                </a:lnTo>
                <a:close/>
              </a:path>
            </a:pathLst>
          </a:custGeom>
          <a:blipFill>
            <a:blip r:embed="rId7"/>
            <a:stretch>
              <a:fillRect l="0" t="0" r="0" b="0"/>
            </a:stretch>
          </a:blipFill>
        </p:spPr>
      </p:sp>
      <p:sp>
        <p:nvSpPr>
          <p:cNvPr name="TextBox 6" id="6"/>
          <p:cNvSpPr txBox="true"/>
          <p:nvPr/>
        </p:nvSpPr>
        <p:spPr>
          <a:xfrm rot="0">
            <a:off x="2663679" y="-88609"/>
            <a:ext cx="13703503" cy="1117309"/>
          </a:xfrm>
          <a:prstGeom prst="rect">
            <a:avLst/>
          </a:prstGeom>
        </p:spPr>
        <p:txBody>
          <a:bodyPr anchor="t" rtlCol="false" tIns="0" lIns="0" bIns="0" rIns="0">
            <a:spAutoFit/>
          </a:bodyPr>
          <a:lstStyle/>
          <a:p>
            <a:pPr algn="ctr">
              <a:lnSpc>
                <a:spcPts val="9171"/>
              </a:lnSpc>
            </a:pPr>
            <a:r>
              <a:rPr lang="en-US" b="true" sz="6551">
                <a:solidFill>
                  <a:srgbClr val="3F3D3E"/>
                </a:solidFill>
                <a:latin typeface="Alexandria Bold"/>
                <a:ea typeface="Alexandria Bold"/>
                <a:cs typeface="Alexandria Bold"/>
                <a:sym typeface="Alexandria Bold"/>
              </a:rPr>
              <a:t>LOGISTIC REGRESSION</a:t>
            </a:r>
          </a:p>
        </p:txBody>
      </p:sp>
      <p:sp>
        <p:nvSpPr>
          <p:cNvPr name="TextBox 7" id="7"/>
          <p:cNvSpPr txBox="true"/>
          <p:nvPr/>
        </p:nvSpPr>
        <p:spPr>
          <a:xfrm rot="0">
            <a:off x="8968770" y="1163505"/>
            <a:ext cx="9144000" cy="4089022"/>
          </a:xfrm>
          <a:prstGeom prst="rect">
            <a:avLst/>
          </a:prstGeom>
        </p:spPr>
        <p:txBody>
          <a:bodyPr anchor="t" rtlCol="false" tIns="0" lIns="0" bIns="0" rIns="0">
            <a:spAutoFit/>
          </a:bodyPr>
          <a:lstStyle/>
          <a:p>
            <a:pPr algn="l" marL="0" indent="0" lvl="1">
              <a:lnSpc>
                <a:spcPts val="4062"/>
              </a:lnSpc>
              <a:spcBef>
                <a:spcPct val="0"/>
              </a:spcBef>
            </a:pPr>
            <a:r>
              <a:rPr lang="en-US" sz="2901" strike="noStrike" u="none">
                <a:solidFill>
                  <a:srgbClr val="545454"/>
                </a:solidFill>
                <a:latin typeface="Garet"/>
                <a:ea typeface="Garet"/>
                <a:cs typeface="Garet"/>
                <a:sym typeface="Garet"/>
              </a:rPr>
              <a:t>We can clearly see the efficiency of the logistic regression model through the confusion matrix visualization. Only 50 samples were misidentified from which we can state that the model is efficient for our dataset and problem statement but not as efficient as the Random Forest Classifier.</a:t>
            </a:r>
          </a:p>
          <a:p>
            <a:pPr algn="l" marL="0" indent="0" lvl="1">
              <a:lnSpc>
                <a:spcPts val="4062"/>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5" id="5"/>
          <p:cNvSpPr/>
          <p:nvPr/>
        </p:nvSpPr>
        <p:spPr>
          <a:xfrm flipH="false" flipV="false" rot="0">
            <a:off x="491530" y="2245174"/>
            <a:ext cx="9744577" cy="6090360"/>
          </a:xfrm>
          <a:custGeom>
            <a:avLst/>
            <a:gdLst/>
            <a:ahLst/>
            <a:cxnLst/>
            <a:rect r="r" b="b" t="t" l="l"/>
            <a:pathLst>
              <a:path h="6090360" w="9744577">
                <a:moveTo>
                  <a:pt x="0" y="0"/>
                </a:moveTo>
                <a:lnTo>
                  <a:pt x="9744577" y="0"/>
                </a:lnTo>
                <a:lnTo>
                  <a:pt x="9744577" y="6090361"/>
                </a:lnTo>
                <a:lnTo>
                  <a:pt x="0" y="6090361"/>
                </a:lnTo>
                <a:lnTo>
                  <a:pt x="0" y="0"/>
                </a:lnTo>
                <a:close/>
              </a:path>
            </a:pathLst>
          </a:custGeom>
          <a:blipFill>
            <a:blip r:embed="rId6"/>
            <a:stretch>
              <a:fillRect l="0" t="0" r="0" b="0"/>
            </a:stretch>
          </a:blipFill>
        </p:spPr>
      </p:sp>
      <p:sp>
        <p:nvSpPr>
          <p:cNvPr name="TextBox 6" id="6"/>
          <p:cNvSpPr txBox="true"/>
          <p:nvPr/>
        </p:nvSpPr>
        <p:spPr>
          <a:xfrm rot="0">
            <a:off x="745669" y="324855"/>
            <a:ext cx="17105062" cy="1392492"/>
          </a:xfrm>
          <a:prstGeom prst="rect">
            <a:avLst/>
          </a:prstGeom>
        </p:spPr>
        <p:txBody>
          <a:bodyPr anchor="t" rtlCol="false" tIns="0" lIns="0" bIns="0" rIns="0">
            <a:spAutoFit/>
          </a:bodyPr>
          <a:lstStyle/>
          <a:p>
            <a:pPr algn="ctr">
              <a:lnSpc>
                <a:spcPts val="11448"/>
              </a:lnSpc>
            </a:pPr>
            <a:r>
              <a:rPr lang="en-US" sz="8177">
                <a:solidFill>
                  <a:srgbClr val="3F3D3E"/>
                </a:solidFill>
                <a:latin typeface="Alexandria"/>
                <a:ea typeface="Alexandria"/>
                <a:cs typeface="Alexandria"/>
                <a:sym typeface="Alexandria"/>
              </a:rPr>
              <a:t>FEATURE IMPORTANCE OF LR</a:t>
            </a:r>
          </a:p>
        </p:txBody>
      </p:sp>
      <p:sp>
        <p:nvSpPr>
          <p:cNvPr name="TextBox 7" id="7"/>
          <p:cNvSpPr txBox="true"/>
          <p:nvPr/>
        </p:nvSpPr>
        <p:spPr>
          <a:xfrm rot="0">
            <a:off x="10236107" y="3141910"/>
            <a:ext cx="7023193" cy="3487326"/>
          </a:xfrm>
          <a:prstGeom prst="rect">
            <a:avLst/>
          </a:prstGeom>
        </p:spPr>
        <p:txBody>
          <a:bodyPr anchor="t" rtlCol="false" tIns="0" lIns="0" bIns="0" rIns="0">
            <a:spAutoFit/>
          </a:bodyPr>
          <a:lstStyle/>
          <a:p>
            <a:pPr algn="ctr">
              <a:lnSpc>
                <a:spcPts val="5582"/>
              </a:lnSpc>
            </a:pPr>
            <a:r>
              <a:rPr lang="en-US" sz="3987">
                <a:solidFill>
                  <a:srgbClr val="545454"/>
                </a:solidFill>
                <a:latin typeface="Garet"/>
                <a:ea typeface="Garet"/>
                <a:cs typeface="Garet"/>
                <a:sym typeface="Garet"/>
              </a:rPr>
              <a:t>Here’s the feature importance graph for the top 15 features as per the logistic regression model.</a:t>
            </a:r>
          </a:p>
          <a:p>
            <a:pPr algn="ctr">
              <a:lnSpc>
                <a:spcPts val="5582"/>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62863" y="5904219"/>
            <a:ext cx="16211535" cy="2307746"/>
          </a:xfrm>
          <a:prstGeom prst="rect">
            <a:avLst/>
          </a:prstGeom>
        </p:spPr>
        <p:txBody>
          <a:bodyPr anchor="t" rtlCol="false" tIns="0" lIns="0" bIns="0" rIns="0">
            <a:spAutoFit/>
          </a:bodyPr>
          <a:lstStyle/>
          <a:p>
            <a:pPr algn="ctr">
              <a:lnSpc>
                <a:spcPts val="4576"/>
              </a:lnSpc>
              <a:spcBef>
                <a:spcPct val="0"/>
              </a:spcBef>
            </a:pPr>
            <a:r>
              <a:rPr lang="en-US" sz="3268">
                <a:solidFill>
                  <a:srgbClr val="545454"/>
                </a:solidFill>
                <a:latin typeface="Garet"/>
                <a:ea typeface="Garet"/>
                <a:cs typeface="Garet"/>
                <a:sym typeface="Garet"/>
              </a:rPr>
              <a:t>Here’s the comparison of both the models that we used to identify the hotspot counties of New York state based on past records. We are clearly able to make out that Random Forest classifier works better for our dataset and problem statement.</a:t>
            </a: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6" id="6"/>
          <p:cNvSpPr/>
          <p:nvPr/>
        </p:nvSpPr>
        <p:spPr>
          <a:xfrm flipH="false" flipV="false" rot="0">
            <a:off x="844293" y="3066129"/>
            <a:ext cx="16330105" cy="1980025"/>
          </a:xfrm>
          <a:custGeom>
            <a:avLst/>
            <a:gdLst/>
            <a:ahLst/>
            <a:cxnLst/>
            <a:rect r="r" b="b" t="t" l="l"/>
            <a:pathLst>
              <a:path h="1980025" w="16330105">
                <a:moveTo>
                  <a:pt x="0" y="0"/>
                </a:moveTo>
                <a:lnTo>
                  <a:pt x="16330105" y="0"/>
                </a:lnTo>
                <a:lnTo>
                  <a:pt x="16330105" y="1980026"/>
                </a:lnTo>
                <a:lnTo>
                  <a:pt x="0" y="1980026"/>
                </a:lnTo>
                <a:lnTo>
                  <a:pt x="0" y="0"/>
                </a:lnTo>
                <a:close/>
              </a:path>
            </a:pathLst>
          </a:custGeom>
          <a:blipFill>
            <a:blip r:embed="rId6"/>
            <a:stretch>
              <a:fillRect l="0" t="0" r="0" b="0"/>
            </a:stretch>
          </a:blipFill>
        </p:spPr>
      </p:sp>
      <p:sp>
        <p:nvSpPr>
          <p:cNvPr name="TextBox 7" id="7"/>
          <p:cNvSpPr txBox="true"/>
          <p:nvPr/>
        </p:nvSpPr>
        <p:spPr>
          <a:xfrm rot="0">
            <a:off x="2835282" y="455831"/>
            <a:ext cx="12617437"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MODEL COMPARISON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0">
            <a:off x="676457" y="218877"/>
            <a:ext cx="7236502" cy="4708466"/>
          </a:xfrm>
          <a:custGeom>
            <a:avLst/>
            <a:gdLst/>
            <a:ahLst/>
            <a:cxnLst/>
            <a:rect r="r" b="b" t="t" l="l"/>
            <a:pathLst>
              <a:path h="4708466" w="7236502">
                <a:moveTo>
                  <a:pt x="0" y="0"/>
                </a:moveTo>
                <a:lnTo>
                  <a:pt x="7236502" y="0"/>
                </a:lnTo>
                <a:lnTo>
                  <a:pt x="7236502" y="4708466"/>
                </a:lnTo>
                <a:lnTo>
                  <a:pt x="0" y="4708466"/>
                </a:lnTo>
                <a:lnTo>
                  <a:pt x="0" y="0"/>
                </a:lnTo>
                <a:close/>
              </a:path>
            </a:pathLst>
          </a:custGeom>
          <a:blipFill>
            <a:blip r:embed="rId2"/>
            <a:stretch>
              <a:fillRect l="0" t="0" r="0" b="0"/>
            </a:stretch>
          </a:blipFill>
        </p:spPr>
      </p:sp>
      <p:sp>
        <p:nvSpPr>
          <p:cNvPr name="Freeform 3" id="3"/>
          <p:cNvSpPr/>
          <p:nvPr/>
        </p:nvSpPr>
        <p:spPr>
          <a:xfrm flipH="false" flipV="false" rot="0">
            <a:off x="9440482" y="218877"/>
            <a:ext cx="7188819" cy="4708466"/>
          </a:xfrm>
          <a:custGeom>
            <a:avLst/>
            <a:gdLst/>
            <a:ahLst/>
            <a:cxnLst/>
            <a:rect r="r" b="b" t="t" l="l"/>
            <a:pathLst>
              <a:path h="4708466" w="7188819">
                <a:moveTo>
                  <a:pt x="0" y="0"/>
                </a:moveTo>
                <a:lnTo>
                  <a:pt x="7188819" y="0"/>
                </a:lnTo>
                <a:lnTo>
                  <a:pt x="7188819" y="4708466"/>
                </a:lnTo>
                <a:lnTo>
                  <a:pt x="0" y="4708466"/>
                </a:lnTo>
                <a:lnTo>
                  <a:pt x="0" y="0"/>
                </a:lnTo>
                <a:close/>
              </a:path>
            </a:pathLst>
          </a:custGeom>
          <a:blipFill>
            <a:blip r:embed="rId3"/>
            <a:stretch>
              <a:fillRect l="0" t="0" r="0" b="0"/>
            </a:stretch>
          </a:blipFill>
        </p:spPr>
      </p:sp>
      <p:sp>
        <p:nvSpPr>
          <p:cNvPr name="Freeform 4" id="4"/>
          <p:cNvSpPr/>
          <p:nvPr/>
        </p:nvSpPr>
        <p:spPr>
          <a:xfrm flipH="false" flipV="false" rot="0">
            <a:off x="676457" y="5232419"/>
            <a:ext cx="7236502" cy="4511507"/>
          </a:xfrm>
          <a:custGeom>
            <a:avLst/>
            <a:gdLst/>
            <a:ahLst/>
            <a:cxnLst/>
            <a:rect r="r" b="b" t="t" l="l"/>
            <a:pathLst>
              <a:path h="4511507" w="7236502">
                <a:moveTo>
                  <a:pt x="0" y="0"/>
                </a:moveTo>
                <a:lnTo>
                  <a:pt x="7236502" y="0"/>
                </a:lnTo>
                <a:lnTo>
                  <a:pt x="7236502" y="4511507"/>
                </a:lnTo>
                <a:lnTo>
                  <a:pt x="0" y="4511507"/>
                </a:lnTo>
                <a:lnTo>
                  <a:pt x="0" y="0"/>
                </a:lnTo>
                <a:close/>
              </a:path>
            </a:pathLst>
          </a:custGeom>
          <a:blipFill>
            <a:blip r:embed="rId4"/>
            <a:stretch>
              <a:fillRect l="0" t="0" r="0" b="0"/>
            </a:stretch>
          </a:blipFill>
        </p:spPr>
      </p:sp>
      <p:sp>
        <p:nvSpPr>
          <p:cNvPr name="Freeform 5" id="5"/>
          <p:cNvSpPr/>
          <p:nvPr/>
        </p:nvSpPr>
        <p:spPr>
          <a:xfrm flipH="false" flipV="false" rot="0">
            <a:off x="9440482" y="5232419"/>
            <a:ext cx="7188819" cy="4537361"/>
          </a:xfrm>
          <a:custGeom>
            <a:avLst/>
            <a:gdLst/>
            <a:ahLst/>
            <a:cxnLst/>
            <a:rect r="r" b="b" t="t" l="l"/>
            <a:pathLst>
              <a:path h="4537361" w="7188819">
                <a:moveTo>
                  <a:pt x="0" y="0"/>
                </a:moveTo>
                <a:lnTo>
                  <a:pt x="7188819" y="0"/>
                </a:lnTo>
                <a:lnTo>
                  <a:pt x="7188819" y="4537361"/>
                </a:lnTo>
                <a:lnTo>
                  <a:pt x="0" y="4537361"/>
                </a:lnTo>
                <a:lnTo>
                  <a:pt x="0" y="0"/>
                </a:lnTo>
                <a:close/>
              </a:path>
            </a:pathLst>
          </a:custGeom>
          <a:blipFill>
            <a:blip r:embed="rId5"/>
            <a:stretch>
              <a:fillRect l="0" t="-1497" r="0" b="-1497"/>
            </a:stretch>
          </a:blipFill>
          <a:ln w="38100" cap="sq">
            <a:solidFill>
              <a:srgbClr val="000000"/>
            </a:solidFill>
            <a:prstDash val="solid"/>
            <a:miter/>
          </a:ln>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a:off x="4541415" y="9766288"/>
            <a:ext cx="11672841" cy="0"/>
          </a:xfrm>
          <a:prstGeom prst="line">
            <a:avLst/>
          </a:prstGeom>
          <a:ln cap="flat" w="9525">
            <a:solidFill>
              <a:srgbClr val="545454"/>
            </a:solidFill>
            <a:prstDash val="solid"/>
            <a:headEnd type="none" len="sm" w="sm"/>
            <a:tailEnd type="none" len="sm" w="sm"/>
          </a:ln>
        </p:spPr>
      </p:sp>
      <p:sp>
        <p:nvSpPr>
          <p:cNvPr name="Freeform 5" id="5"/>
          <p:cNvSpPr/>
          <p:nvPr/>
        </p:nvSpPr>
        <p:spPr>
          <a:xfrm flipH="false" flipV="false" rot="0">
            <a:off x="4164940" y="1635957"/>
            <a:ext cx="9723530" cy="6988530"/>
          </a:xfrm>
          <a:custGeom>
            <a:avLst/>
            <a:gdLst/>
            <a:ahLst/>
            <a:cxnLst/>
            <a:rect r="r" b="b" t="t" l="l"/>
            <a:pathLst>
              <a:path h="6988530" w="9723530">
                <a:moveTo>
                  <a:pt x="0" y="0"/>
                </a:moveTo>
                <a:lnTo>
                  <a:pt x="9723530" y="0"/>
                </a:lnTo>
                <a:lnTo>
                  <a:pt x="9723530" y="6988529"/>
                </a:lnTo>
                <a:lnTo>
                  <a:pt x="0" y="6988529"/>
                </a:lnTo>
                <a:lnTo>
                  <a:pt x="0" y="0"/>
                </a:lnTo>
                <a:close/>
              </a:path>
            </a:pathLst>
          </a:custGeom>
          <a:blipFill>
            <a:blip r:embed="rId6"/>
            <a:stretch>
              <a:fillRect l="0" t="-5815" r="0" b="-49426"/>
            </a:stretch>
          </a:blipFill>
        </p:spPr>
      </p:sp>
      <p:sp>
        <p:nvSpPr>
          <p:cNvPr name="Freeform 6" id="6"/>
          <p:cNvSpPr/>
          <p:nvPr/>
        </p:nvSpPr>
        <p:spPr>
          <a:xfrm flipH="false" flipV="false" rot="0">
            <a:off x="4282235" y="8637765"/>
            <a:ext cx="9723530" cy="923735"/>
          </a:xfrm>
          <a:custGeom>
            <a:avLst/>
            <a:gdLst/>
            <a:ahLst/>
            <a:cxnLst/>
            <a:rect r="r" b="b" t="t" l="l"/>
            <a:pathLst>
              <a:path h="923735" w="9723530">
                <a:moveTo>
                  <a:pt x="0" y="0"/>
                </a:moveTo>
                <a:lnTo>
                  <a:pt x="9723530" y="0"/>
                </a:lnTo>
                <a:lnTo>
                  <a:pt x="9723530" y="923735"/>
                </a:lnTo>
                <a:lnTo>
                  <a:pt x="0" y="923735"/>
                </a:lnTo>
                <a:lnTo>
                  <a:pt x="0" y="0"/>
                </a:lnTo>
                <a:close/>
              </a:path>
            </a:pathLst>
          </a:custGeom>
          <a:blipFill>
            <a:blip r:embed="rId7"/>
            <a:stretch>
              <a:fillRect l="0" t="0" r="0" b="0"/>
            </a:stretch>
          </a:blipFill>
        </p:spPr>
      </p:sp>
      <p:sp>
        <p:nvSpPr>
          <p:cNvPr name="TextBox 7" id="7"/>
          <p:cNvSpPr txBox="true"/>
          <p:nvPr/>
        </p:nvSpPr>
        <p:spPr>
          <a:xfrm rot="0">
            <a:off x="0" y="256254"/>
            <a:ext cx="18288000"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VISUALIZATION OF HOTSPOTS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graphicFrame>
        <p:nvGraphicFramePr>
          <p:cNvPr name="Object 2" id="2"/>
          <p:cNvGraphicFramePr/>
          <p:nvPr/>
        </p:nvGraphicFramePr>
        <p:xfrm>
          <a:off x="0" y="1764122"/>
          <a:ext cx="11315700" cy="6915150"/>
        </p:xfrm>
        <a:graphic>
          <a:graphicData uri="http://schemas.openxmlformats.org/presentationml/2006/ole">
            <p:oleObj imgW="13576300" imgH="9182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672131" y="542007"/>
            <a:ext cx="8943737" cy="878137"/>
          </a:xfrm>
          <a:prstGeom prst="rect">
            <a:avLst/>
          </a:prstGeom>
        </p:spPr>
        <p:txBody>
          <a:bodyPr anchor="t" rtlCol="false" tIns="0" lIns="0" bIns="0" rIns="0">
            <a:spAutoFit/>
          </a:bodyPr>
          <a:lstStyle/>
          <a:p>
            <a:pPr algn="ctr">
              <a:lnSpc>
                <a:spcPts val="7248"/>
              </a:lnSpc>
              <a:spcBef>
                <a:spcPct val="0"/>
              </a:spcBef>
            </a:pPr>
            <a:r>
              <a:rPr lang="en-US" sz="5177">
                <a:solidFill>
                  <a:srgbClr val="000000"/>
                </a:solidFill>
                <a:latin typeface="Alexandria"/>
                <a:ea typeface="Alexandria"/>
                <a:cs typeface="Alexandria"/>
                <a:sym typeface="Alexandria"/>
              </a:rPr>
              <a:t>GANTT CHART STRUCTURE</a:t>
            </a:r>
          </a:p>
        </p:txBody>
      </p:sp>
      <p:sp>
        <p:nvSpPr>
          <p:cNvPr name="Freeform 4" id="4"/>
          <p:cNvSpPr/>
          <p:nvPr/>
        </p:nvSpPr>
        <p:spPr>
          <a:xfrm flipH="false" flipV="false" rot="0">
            <a:off x="10356827" y="2766568"/>
            <a:ext cx="7798006" cy="4753865"/>
          </a:xfrm>
          <a:custGeom>
            <a:avLst/>
            <a:gdLst/>
            <a:ahLst/>
            <a:cxnLst/>
            <a:rect r="r" b="b" t="t" l="l"/>
            <a:pathLst>
              <a:path h="4753865" w="7798006">
                <a:moveTo>
                  <a:pt x="0" y="0"/>
                </a:moveTo>
                <a:lnTo>
                  <a:pt x="7798006" y="0"/>
                </a:lnTo>
                <a:lnTo>
                  <a:pt x="7798006" y="4753864"/>
                </a:lnTo>
                <a:lnTo>
                  <a:pt x="0" y="4753864"/>
                </a:lnTo>
                <a:lnTo>
                  <a:pt x="0" y="0"/>
                </a:lnTo>
                <a:close/>
              </a:path>
            </a:pathLst>
          </a:custGeom>
          <a:blipFill>
            <a:blip r:embed="rId4"/>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5057775" y="4656807"/>
            <a:ext cx="8172450" cy="878137"/>
          </a:xfrm>
          <a:prstGeom prst="rect">
            <a:avLst/>
          </a:prstGeom>
        </p:spPr>
        <p:txBody>
          <a:bodyPr anchor="t" rtlCol="false" tIns="0" lIns="0" bIns="0" rIns="0">
            <a:spAutoFit/>
          </a:bodyPr>
          <a:lstStyle/>
          <a:p>
            <a:pPr algn="ctr">
              <a:lnSpc>
                <a:spcPts val="7248"/>
              </a:lnSpc>
              <a:spcBef>
                <a:spcPct val="0"/>
              </a:spcBef>
            </a:pPr>
            <a:r>
              <a:rPr lang="en-US" sz="5177">
                <a:solidFill>
                  <a:srgbClr val="000000"/>
                </a:solidFill>
                <a:latin typeface="Alexandria"/>
                <a:ea typeface="Alexandria"/>
                <a:cs typeface="Alexandria"/>
                <a:sym typeface="Alexandria"/>
              </a:rPr>
              <a:t>YOUR PARAGRAPH TEXT</a:t>
            </a:r>
          </a:p>
        </p:txBody>
      </p:sp>
      <p:sp>
        <p:nvSpPr>
          <p:cNvPr name="Freeform 3" id="3"/>
          <p:cNvSpPr/>
          <p:nvPr/>
        </p:nvSpPr>
        <p:spPr>
          <a:xfrm flipH="false" flipV="false" rot="0">
            <a:off x="3058918" y="1279473"/>
            <a:ext cx="12170165" cy="7728055"/>
          </a:xfrm>
          <a:custGeom>
            <a:avLst/>
            <a:gdLst/>
            <a:ahLst/>
            <a:cxnLst/>
            <a:rect r="r" b="b" t="t" l="l"/>
            <a:pathLst>
              <a:path h="7728055" w="12170165">
                <a:moveTo>
                  <a:pt x="0" y="0"/>
                </a:moveTo>
                <a:lnTo>
                  <a:pt x="12170164" y="0"/>
                </a:lnTo>
                <a:lnTo>
                  <a:pt x="12170164" y="7728054"/>
                </a:lnTo>
                <a:lnTo>
                  <a:pt x="0" y="7728054"/>
                </a:lnTo>
                <a:lnTo>
                  <a:pt x="0" y="0"/>
                </a:lnTo>
                <a:close/>
              </a:path>
            </a:pathLst>
          </a:custGeom>
          <a:blipFill>
            <a:blip r:embed="rId2"/>
            <a:stretch>
              <a:fillRect l="0" t="0" r="0" b="0"/>
            </a:stretch>
          </a:blipFill>
        </p:spPr>
      </p:sp>
      <p:sp>
        <p:nvSpPr>
          <p:cNvPr name="TextBox 4" id="4"/>
          <p:cNvSpPr txBox="true"/>
          <p:nvPr/>
        </p:nvSpPr>
        <p:spPr>
          <a:xfrm rot="0">
            <a:off x="5863233" y="150563"/>
            <a:ext cx="6561534" cy="878137"/>
          </a:xfrm>
          <a:prstGeom prst="rect">
            <a:avLst/>
          </a:prstGeom>
        </p:spPr>
        <p:txBody>
          <a:bodyPr anchor="t" rtlCol="false" tIns="0" lIns="0" bIns="0" rIns="0">
            <a:spAutoFit/>
          </a:bodyPr>
          <a:lstStyle/>
          <a:p>
            <a:pPr algn="ctr">
              <a:lnSpc>
                <a:spcPts val="7248"/>
              </a:lnSpc>
              <a:spcBef>
                <a:spcPct val="0"/>
              </a:spcBef>
            </a:pPr>
            <a:r>
              <a:rPr lang="en-US" sz="5177">
                <a:solidFill>
                  <a:srgbClr val="000000"/>
                </a:solidFill>
                <a:latin typeface="Alexandria"/>
                <a:ea typeface="Alexandria"/>
                <a:cs typeface="Alexandria"/>
                <a:sym typeface="Alexandria"/>
              </a:rPr>
              <a:t>WATERFALL MODEL</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668325" y="4013269"/>
            <a:ext cx="12951349" cy="2297939"/>
          </a:xfrm>
          <a:prstGeom prst="rect">
            <a:avLst/>
          </a:prstGeom>
        </p:spPr>
        <p:txBody>
          <a:bodyPr anchor="t" rtlCol="false" tIns="0" lIns="0" bIns="0" rIns="0">
            <a:spAutoFit/>
          </a:bodyPr>
          <a:lstStyle/>
          <a:p>
            <a:pPr algn="ctr">
              <a:lnSpc>
                <a:spcPts val="18766"/>
              </a:lnSpc>
            </a:pPr>
            <a:r>
              <a:rPr lang="en-US" b="true" sz="13404">
                <a:solidFill>
                  <a:srgbClr val="3F3D3E"/>
                </a:solidFill>
                <a:latin typeface="Alexandria Bold"/>
                <a:ea typeface="Alexandria Bold"/>
                <a:cs typeface="Alexandria Bold"/>
                <a:sym typeface="Alexandria Bold"/>
              </a:rPr>
              <a:t>THANK YOU !</a:t>
            </a: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4541415" y="9464180"/>
            <a:ext cx="11672841" cy="0"/>
          </a:xfrm>
          <a:prstGeom prst="line">
            <a:avLst/>
          </a:prstGeom>
          <a:ln cap="flat" w="9525">
            <a:solidFill>
              <a:srgbClr val="545454"/>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DAG3GxA7Ues</dc:identifier>
  <dcterms:modified xsi:type="dcterms:W3CDTF">2011-08-01T06:04:30Z</dcterms:modified>
  <cp:revision>1</cp:revision>
  <dc:title>psds-tech-ppt-vka</dc:title>
</cp:coreProperties>
</file>